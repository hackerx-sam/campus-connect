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868680"/>
            <a:ext cx="3383280" cy="3383280"/>
          </a:xfrm>
          <a:prstGeom prst="ellipse">
            <a:avLst/>
          </a:prstGeom>
          <a:solidFill>
            <a:srgbClr val="1E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1572768"/>
            <a:ext cx="2011680" cy="2011680"/>
          </a:xfrm>
          <a:prstGeom prst="ellipse">
            <a:avLst/>
          </a:prstGeom>
          <a:solidFill>
            <a:srgbClr val="273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98280" y="2267712"/>
            <a:ext cx="658368" cy="658368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183879" y="1508760"/>
            <a:ext cx="1097281" cy="960120"/>
          </a:xfrm>
          <a:prstGeom prst="line">
            <a:avLst/>
          </a:prstGeom>
          <a:ln w="12700">
            <a:solidFill>
              <a:srgbClr val="485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555480" y="1554480"/>
            <a:ext cx="914400" cy="932688"/>
          </a:xfrm>
          <a:prstGeom prst="line">
            <a:avLst/>
          </a:prstGeom>
          <a:ln w="12700">
            <a:solidFill>
              <a:srgbClr val="485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229600" y="2816352"/>
            <a:ext cx="1005840" cy="1344168"/>
          </a:xfrm>
          <a:prstGeom prst="line">
            <a:avLst/>
          </a:prstGeom>
          <a:ln w="12700">
            <a:solidFill>
              <a:srgbClr val="485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601200" y="2834640"/>
            <a:ext cx="960120" cy="1325880"/>
          </a:xfrm>
          <a:prstGeom prst="line">
            <a:avLst/>
          </a:prstGeom>
          <a:ln w="12700">
            <a:solidFill>
              <a:srgbClr val="485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464040" y="1005840"/>
            <a:ext cx="411480" cy="1234440"/>
          </a:xfrm>
          <a:prstGeom prst="line">
            <a:avLst/>
          </a:prstGeom>
          <a:ln w="12700">
            <a:solidFill>
              <a:srgbClr val="485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001000" y="1234440"/>
            <a:ext cx="347472" cy="347472"/>
          </a:xfrm>
          <a:prstGeom prst="ellipse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69880" y="1389888"/>
            <a:ext cx="347472" cy="347472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74152" y="4041648"/>
            <a:ext cx="347472" cy="347472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88168" y="4041648"/>
            <a:ext cx="347472" cy="347472"/>
          </a:xfrm>
          <a:prstGeom prst="ellipse">
            <a:avLst/>
          </a:prstGeom>
          <a:solidFill>
            <a:srgbClr val="FF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20072" y="832104"/>
            <a:ext cx="347472" cy="347472"/>
          </a:xfrm>
          <a:prstGeom prst="ellipse">
            <a:avLst/>
          </a:prstGeom>
          <a:solidFill>
            <a:srgbClr val="FFC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658368"/>
            <a:ext cx="1828800" cy="27432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C2FF"/>
                </a:solidFill>
                <a:latin typeface="Aptos"/>
              </a:rPr>
              <a:t>✦  CAMPUS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417320"/>
            <a:ext cx="6217920" cy="9144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CampusConnect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2441448"/>
            <a:ext cx="5943600" cy="3840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66C2FF"/>
                </a:solidFill>
                <a:latin typeface="Aptos Display"/>
              </a:rPr>
              <a:t>One campus. Endless possibilities.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054096"/>
            <a:ext cx="5669280" cy="71323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0E7F7"/>
                </a:solidFill>
                <a:latin typeface="Aptos"/>
              </a:rPr>
              <a:t>A simpler way for students to find their people, discover events and build things together.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1207008" cy="384048"/>
          </a:xfrm>
          <a:prstGeom prst="roundRect">
            <a:avLst>
              <a:gd name="adj" fmla="val 12000"/>
            </a:avLst>
          </a:prstGeom>
          <a:solidFill>
            <a:srgbClr val="22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4389120"/>
            <a:ext cx="109728" cy="109728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" y="4352544"/>
            <a:ext cx="86868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PEOPLE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4251960"/>
            <a:ext cx="1207008" cy="384048"/>
          </a:xfrm>
          <a:prstGeom prst="roundRect">
            <a:avLst>
              <a:gd name="adj" fmla="val 12000"/>
            </a:avLst>
          </a:prstGeom>
          <a:solidFill>
            <a:srgbClr val="22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67128" y="4389120"/>
            <a:ext cx="109728" cy="109728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864" y="4352544"/>
            <a:ext cx="86868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251960"/>
            <a:ext cx="1207008" cy="384048"/>
          </a:xfrm>
          <a:prstGeom prst="roundRect">
            <a:avLst>
              <a:gd name="adj" fmla="val 12000"/>
            </a:avLst>
          </a:prstGeom>
          <a:solidFill>
            <a:srgbClr val="22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93008" y="4389120"/>
            <a:ext cx="109728" cy="109728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66744" y="4352544"/>
            <a:ext cx="86868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PROJECTS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59" y="4251960"/>
            <a:ext cx="1207008" cy="384048"/>
          </a:xfrm>
          <a:prstGeom prst="roundRect">
            <a:avLst>
              <a:gd name="adj" fmla="val 12000"/>
            </a:avLst>
          </a:prstGeom>
          <a:solidFill>
            <a:srgbClr val="22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18888" y="4389120"/>
            <a:ext cx="109728" cy="109728"/>
          </a:xfrm>
          <a:prstGeom prst="ellipse">
            <a:avLst/>
          </a:prstGeom>
          <a:solidFill>
            <a:srgbClr val="FF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92623" y="4352544"/>
            <a:ext cx="86868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AI DISCOVERY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4709160"/>
            <a:ext cx="3794760" cy="731520"/>
          </a:xfrm>
          <a:prstGeom prst="roundRect">
            <a:avLst>
              <a:gd name="adj" fmla="val 12000"/>
            </a:avLst>
          </a:prstGeom>
          <a:solidFill>
            <a:srgbClr val="1E2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4882896"/>
            <a:ext cx="3337560" cy="32004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 Display"/>
              </a:rPr>
              <a:t>Less searching. More belonging.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5943600" cy="25603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EBCD7"/>
                </a:solidFill>
                <a:latin typeface="Aptos"/>
              </a:rPr>
              <a:t>Discover  ·  Collaborate  ·  Participate  ·  Grow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47104"/>
            <a:ext cx="457200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AEBCD7"/>
                </a:solidFill>
                <a:latin typeface="Aptos"/>
              </a:rPr>
              <a:t>CAMPUSCONNECT  ·  HACKATHON PROJECT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22992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33304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43615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53928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064240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274552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84863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822960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F70F2"/>
                </a:solidFill>
                <a:latin typeface="Aptos"/>
              </a:rPr>
              <a:t>01 · THE 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303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8223B"/>
                </a:solidFill>
                <a:latin typeface="Aptos Display"/>
              </a:rPr>
              <a:t>Campus life is full of opportunities. Finding them shouldn't be hard.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18F"/>
                </a:solidFill>
                <a:latin typeface="Aptos"/>
              </a:rPr>
              <a:t>The information is out there—but it can be scattered across group chats, forms and separate platforms.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9436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4718F"/>
                </a:solidFill>
                <a:latin typeface="Aptos"/>
              </a:rPr>
              <a:t>02/08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121408"/>
            <a:ext cx="502920" cy="502920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31136"/>
            <a:ext cx="502920" cy="2011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F3A"/>
                </a:solidFill>
                <a:latin typeface="Aptos"/>
              </a:rPr>
              <a:t>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084831"/>
            <a:ext cx="365760" cy="14630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3F70F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313432"/>
            <a:ext cx="4069080" cy="27432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3B"/>
                </a:solidFill>
                <a:latin typeface="Aptos Display"/>
              </a:rPr>
              <a:t>Updates are everywhere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679191"/>
            <a:ext cx="4041648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18F"/>
                </a:solidFill>
                <a:latin typeface="Aptos"/>
              </a:rPr>
              <a:t>Important announcements get buried in busy chats and different portals.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874519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55664" y="2121408"/>
            <a:ext cx="502920" cy="502920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231136"/>
            <a:ext cx="502920" cy="2011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F3A"/>
                </a:solidFill>
                <a:latin typeface="Aptos"/>
              </a:rPr>
              <a:t>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84831"/>
            <a:ext cx="365760" cy="14630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8E7B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13432"/>
            <a:ext cx="4069080" cy="27432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3B"/>
                </a:solidFill>
                <a:latin typeface="Aptos Display"/>
              </a:rPr>
              <a:t>Finding your people takes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79191"/>
            <a:ext cx="4041648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18F"/>
                </a:solidFill>
                <a:latin typeface="Aptos"/>
              </a:rPr>
              <a:t>It's not always easy to find teammates with the skills or interests you need.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3904487"/>
            <a:ext cx="502920" cy="502920"/>
          </a:xfrm>
          <a:prstGeom prst="ellipse">
            <a:avLst/>
          </a:prstGeom>
          <a:solidFill>
            <a:srgbClr val="FF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014215"/>
            <a:ext cx="502920" cy="2011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F3A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867912"/>
            <a:ext cx="365760" cy="14630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897D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4096512"/>
            <a:ext cx="4069080" cy="27432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3B"/>
                </a:solidFill>
                <a:latin typeface="Aptos Display"/>
              </a:rPr>
              <a:t>Good events get missed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4462272"/>
            <a:ext cx="4041648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18F"/>
                </a:solidFill>
                <a:latin typeface="Aptos"/>
              </a:rPr>
              <a:t>Dates clash, details are spread out, and reminders don't always reach everyone.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65760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55664" y="3904487"/>
            <a:ext cx="502920" cy="502920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4014215"/>
            <a:ext cx="502920" cy="2011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1F3A"/>
                </a:solidFill>
                <a:latin typeface="Aptos"/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867912"/>
            <a:ext cx="365760" cy="14630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D6B2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096512"/>
            <a:ext cx="4069080" cy="27432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3B"/>
                </a:solidFill>
                <a:latin typeface="Aptos Display"/>
              </a:rPr>
              <a:t>Projects stay out of 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62272"/>
            <a:ext cx="4041648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18F"/>
                </a:solidFill>
                <a:latin typeface="Aptos"/>
              </a:rPr>
              <a:t>Student ideas and collaboration opportunities can be hard to discover.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5577840"/>
            <a:ext cx="9509760" cy="502920"/>
          </a:xfrm>
          <a:prstGeom prst="roundRect">
            <a:avLst>
              <a:gd name="adj" fmla="val 12000"/>
            </a:avLst>
          </a:prstGeom>
          <a:solidFill>
            <a:srgbClr val="E5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715000"/>
            <a:ext cx="905256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F70F2"/>
                </a:solidFill>
                <a:latin typeface="Aptos"/>
              </a:rPr>
              <a:t>Students don't need more noise. They need one place that brings campus together.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47104"/>
            <a:ext cx="457200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64718F"/>
                </a:solidFill>
                <a:latin typeface="Aptos"/>
              </a:rPr>
              <a:t>CAMPUSCONNECT  ·  HACKATHON PROJECT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22992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33304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43615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53928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064240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274552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84863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822960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F70F2"/>
                </a:solidFill>
                <a:latin typeface="Aptos"/>
              </a:rPr>
              <a:t>02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303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8223B"/>
                </a:solidFill>
                <a:latin typeface="Aptos Display"/>
              </a:rPr>
              <a:t>One home for campus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18F"/>
                </a:solidFill>
                <a:latin typeface="Aptos"/>
              </a:rPr>
              <a:t>CampusConnect brings people, events and projects into one simple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9436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4718F"/>
                </a:solidFill>
                <a:latin typeface="Aptos"/>
              </a:rPr>
              <a:t>03/08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6751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675120" cy="429768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" y="1938528"/>
            <a:ext cx="91440" cy="91440"/>
          </a:xfrm>
          <a:prstGeom prst="ellipse">
            <a:avLst/>
          </a:prstGeom>
          <a:solidFill>
            <a:srgbClr val="FF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938528"/>
            <a:ext cx="91440" cy="91440"/>
          </a:xfrm>
          <a:prstGeom prst="ellipse">
            <a:avLst/>
          </a:prstGeom>
          <a:solidFill>
            <a:srgbClr val="FFC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9576" y="1938528"/>
            <a:ext cx="91440" cy="91440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11095"/>
            <a:ext cx="329184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8223B"/>
                </a:solidFill>
                <a:latin typeface="Aptos"/>
              </a:rPr>
              <a:t>CampusConnect  /  Explore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450592"/>
            <a:ext cx="1024128" cy="3200400"/>
          </a:xfrm>
          <a:prstGeom prst="roundRect">
            <a:avLst>
              <a:gd name="adj" fmla="val 12000"/>
            </a:avLst>
          </a:prstGeom>
          <a:solidFill>
            <a:srgbClr val="EF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615184"/>
            <a:ext cx="731520" cy="1554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64718F"/>
                </a:solidFill>
                <a:latin typeface="Aptos"/>
              </a:rPr>
              <a:t>YOUR CAMPUS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907792"/>
            <a:ext cx="832104" cy="292608"/>
          </a:xfrm>
          <a:prstGeom prst="roundRect">
            <a:avLst>
              <a:gd name="adj" fmla="val 12000"/>
            </a:avLst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990088"/>
            <a:ext cx="658368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346704"/>
            <a:ext cx="832104" cy="292608"/>
          </a:xfrm>
          <a:prstGeom prst="roundRect">
            <a:avLst>
              <a:gd name="adj" fmla="val 12000"/>
            </a:avLst>
          </a:prstGeom>
          <a:solidFill>
            <a:srgbClr val="EF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3429000"/>
            <a:ext cx="658368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18223B"/>
                </a:solidFill>
                <a:latin typeface="Aptos"/>
              </a:rPr>
              <a:t>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785616"/>
            <a:ext cx="832104" cy="292608"/>
          </a:xfrm>
          <a:prstGeom prst="roundRect">
            <a:avLst>
              <a:gd name="adj" fmla="val 12000"/>
            </a:avLst>
          </a:prstGeom>
          <a:solidFill>
            <a:srgbClr val="EF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3867912"/>
            <a:ext cx="658368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18223B"/>
                </a:solidFill>
                <a:latin typeface="Aptos"/>
              </a:rPr>
              <a:t>Groups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224528"/>
            <a:ext cx="832104" cy="292608"/>
          </a:xfrm>
          <a:prstGeom prst="roundRect">
            <a:avLst>
              <a:gd name="adj" fmla="val 12000"/>
            </a:avLst>
          </a:prstGeom>
          <a:solidFill>
            <a:srgbClr val="EF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" y="4306824"/>
            <a:ext cx="658368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18223B"/>
                </a:solidFill>
                <a:latin typeface="Aptos"/>
              </a:rPr>
              <a:t>Projects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4663440"/>
            <a:ext cx="832104" cy="292608"/>
          </a:xfrm>
          <a:prstGeom prst="roundRect">
            <a:avLst>
              <a:gd name="adj" fmla="val 12000"/>
            </a:avLst>
          </a:prstGeom>
          <a:solidFill>
            <a:srgbClr val="EF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4745736"/>
            <a:ext cx="658368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18223B"/>
                </a:solidFill>
                <a:latin typeface="Aptos"/>
              </a:rPr>
              <a:t>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2487168"/>
            <a:ext cx="466344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3B"/>
                </a:solidFill>
                <a:latin typeface="Aptos Display"/>
              </a:rPr>
              <a:t>Good things are happening on campus.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93976" y="2816352"/>
            <a:ext cx="4297680" cy="17373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18F"/>
                </a:solidFill>
                <a:latin typeface="Aptos"/>
              </a:rPr>
              <a:t>A few places to start exploring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84831" y="3218688"/>
            <a:ext cx="1481328" cy="2057400"/>
          </a:xfrm>
          <a:prstGeom prst="roundRect">
            <a:avLst>
              <a:gd name="adj" fmla="val 12000"/>
            </a:avLst>
          </a:prstGeom>
          <a:solidFill>
            <a:srgbClr val="F9FAFE"/>
          </a:solidFill>
          <a:ln w="12700">
            <a:solidFill>
              <a:srgbClr val="E4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4831" y="3218688"/>
            <a:ext cx="1481328" cy="566928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12848" y="336499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12848" y="3410712"/>
            <a:ext cx="246888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F70F2"/>
                </a:solidFill>
                <a:latin typeface="Aptos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959352"/>
            <a:ext cx="123444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1">
                <a:solidFill>
                  <a:srgbClr val="3F70F2"/>
                </a:solidFill>
                <a:latin typeface="Aptos"/>
              </a:rPr>
              <a:t>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224528"/>
            <a:ext cx="1243584" cy="43891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1">
                <a:solidFill>
                  <a:srgbClr val="18223B"/>
                </a:solidFill>
                <a:latin typeface="Aptos"/>
              </a:rPr>
              <a:t>AI &amp; Robotics Club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773168"/>
            <a:ext cx="1243584" cy="32004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64718F"/>
                </a:solidFill>
                <a:latin typeface="Aptos"/>
              </a:rPr>
              <a:t>Meet curious builders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12463" y="3218688"/>
            <a:ext cx="1481328" cy="2057400"/>
          </a:xfrm>
          <a:prstGeom prst="roundRect">
            <a:avLst>
              <a:gd name="adj" fmla="val 12000"/>
            </a:avLst>
          </a:prstGeom>
          <a:solidFill>
            <a:srgbClr val="F9FAFE"/>
          </a:solidFill>
          <a:ln w="12700">
            <a:solidFill>
              <a:srgbClr val="E4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12463" y="3218688"/>
            <a:ext cx="1481328" cy="566928"/>
          </a:xfrm>
          <a:prstGeom prst="rect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40479" y="336499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79" y="3410712"/>
            <a:ext cx="246888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8E7BFF"/>
                </a:solidFill>
                <a:latin typeface="Aptos"/>
              </a:rPr>
              <a:t>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2191" y="3959352"/>
            <a:ext cx="123444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1">
                <a:solidFill>
                  <a:srgbClr val="8E7BFF"/>
                </a:solidFill>
                <a:latin typeface="Aptos"/>
              </a:rPr>
              <a:t>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2191" y="4224528"/>
            <a:ext cx="1243584" cy="43891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1">
                <a:solidFill>
                  <a:srgbClr val="18223B"/>
                </a:solidFill>
                <a:latin typeface="Aptos"/>
              </a:rPr>
              <a:t>Build Night · Friday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2191" y="4773168"/>
            <a:ext cx="1243584" cy="32004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64718F"/>
                </a:solidFill>
                <a:latin typeface="Aptos"/>
              </a:rPr>
              <a:t>Save your spot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40096" y="3218688"/>
            <a:ext cx="1481328" cy="2057400"/>
          </a:xfrm>
          <a:prstGeom prst="roundRect">
            <a:avLst>
              <a:gd name="adj" fmla="val 12000"/>
            </a:avLst>
          </a:prstGeom>
          <a:solidFill>
            <a:srgbClr val="F9FAFE"/>
          </a:solidFill>
          <a:ln w="12700">
            <a:solidFill>
              <a:srgbClr val="E4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0096" y="3218688"/>
            <a:ext cx="1481328" cy="566928"/>
          </a:xfrm>
          <a:prstGeom prst="rect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468112" y="336499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8112" y="3410712"/>
            <a:ext cx="246888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0D6B2"/>
                </a:solidFill>
                <a:latin typeface="Aptos"/>
              </a:rPr>
              <a:t>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9824" y="3959352"/>
            <a:ext cx="123444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1">
                <a:solidFill>
                  <a:srgbClr val="70D6B2"/>
                </a:solidFill>
                <a:latin typeface="Aptos"/>
              </a:rPr>
              <a:t>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9824" y="4224528"/>
            <a:ext cx="1243584" cy="43891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1">
                <a:solidFill>
                  <a:srgbClr val="18223B"/>
                </a:solidFill>
                <a:latin typeface="Aptos"/>
              </a:rPr>
              <a:t>Campus Green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9824" y="4773168"/>
            <a:ext cx="1243584" cy="32004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64718F"/>
                </a:solidFill>
                <a:latin typeface="Aptos"/>
              </a:rPr>
              <a:t>Looking for a designer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1965960"/>
            <a:ext cx="3383280" cy="25603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B"/>
                </a:solidFill>
                <a:latin typeface="Aptos Display"/>
              </a:rPr>
              <a:t>From scattered to connected</a:t>
            </a:r>
          </a:p>
        </p:txBody>
      </p:sp>
      <p:sp>
        <p:nvSpPr>
          <p:cNvPr id="48" name="Oval 47"/>
          <p:cNvSpPr/>
          <p:nvPr/>
        </p:nvSpPr>
        <p:spPr>
          <a:xfrm>
            <a:off x="7845552" y="2578608"/>
            <a:ext cx="292608" cy="292608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5552" y="2651760"/>
            <a:ext cx="292608" cy="12801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41F3A"/>
                </a:solidFill>
                <a:latin typeface="Aptos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2752" y="2560320"/>
            <a:ext cx="2834640" cy="21945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"/>
              </a:rPr>
              <a:t>Find your people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2825496"/>
            <a:ext cx="278892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18F"/>
                </a:solidFill>
                <a:latin typeface="Aptos"/>
              </a:rPr>
              <a:t>Discover communities that feel like your kind of crowd.</a:t>
            </a:r>
          </a:p>
        </p:txBody>
      </p:sp>
      <p:sp>
        <p:nvSpPr>
          <p:cNvPr id="52" name="Oval 51"/>
          <p:cNvSpPr/>
          <p:nvPr/>
        </p:nvSpPr>
        <p:spPr>
          <a:xfrm>
            <a:off x="7845552" y="3346703"/>
            <a:ext cx="292608" cy="292608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45552" y="3419856"/>
            <a:ext cx="292608" cy="12801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41F3A"/>
                </a:solidFill>
                <a:latin typeface="Aptos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3328415"/>
            <a:ext cx="2834640" cy="21945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"/>
              </a:rPr>
              <a:t>Show 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2" y="3593591"/>
            <a:ext cx="278892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18F"/>
                </a:solidFill>
                <a:latin typeface="Aptos"/>
              </a:rPr>
              <a:t>Explore events and keep the details together.</a:t>
            </a:r>
          </a:p>
        </p:txBody>
      </p:sp>
      <p:sp>
        <p:nvSpPr>
          <p:cNvPr id="56" name="Oval 55"/>
          <p:cNvSpPr/>
          <p:nvPr/>
        </p:nvSpPr>
        <p:spPr>
          <a:xfrm>
            <a:off x="7845552" y="4114800"/>
            <a:ext cx="292608" cy="292608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45552" y="4187952"/>
            <a:ext cx="292608" cy="12801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41F3A"/>
                </a:solidFill>
                <a:latin typeface="Aptos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2752" y="4096512"/>
            <a:ext cx="2834640" cy="21945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"/>
              </a:rPr>
              <a:t>Make something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2752" y="4361688"/>
            <a:ext cx="278892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18F"/>
                </a:solidFill>
                <a:latin typeface="Aptos"/>
              </a:rPr>
              <a:t>Find projects, start conversations and team up.</a:t>
            </a:r>
          </a:p>
        </p:txBody>
      </p:sp>
      <p:sp>
        <p:nvSpPr>
          <p:cNvPr id="60" name="Oval 59"/>
          <p:cNvSpPr/>
          <p:nvPr/>
        </p:nvSpPr>
        <p:spPr>
          <a:xfrm>
            <a:off x="7845552" y="4882896"/>
            <a:ext cx="292608" cy="292608"/>
          </a:xfrm>
          <a:prstGeom prst="ellipse">
            <a:avLst/>
          </a:prstGeom>
          <a:solidFill>
            <a:srgbClr val="FF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45552" y="4956048"/>
            <a:ext cx="292608" cy="12801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41F3A"/>
                </a:solidFill>
                <a:latin typeface="Aptos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02752" y="4864608"/>
            <a:ext cx="2834640" cy="21945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"/>
              </a:rPr>
              <a:t>Get a little help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02752" y="5129783"/>
            <a:ext cx="278892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18F"/>
                </a:solidFill>
                <a:latin typeface="Aptos"/>
              </a:rPr>
              <a:t>Use smarter search and AI assistance as they become available.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45552" y="5742432"/>
            <a:ext cx="356616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3F70F2"/>
                </a:solidFill>
                <a:latin typeface="Aptos"/>
              </a:rPr>
              <a:t>Illustrative UI mockup — not a live screenshot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6547104"/>
            <a:ext cx="457200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64718F"/>
                </a:solidFill>
                <a:latin typeface="Aptos"/>
              </a:rPr>
              <a:t>CAMPUSCONNECT  ·  HACKATHON PROJECT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12680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222992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33304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643615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853928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064240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274552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484863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822960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F70F2"/>
                </a:solidFill>
                <a:latin typeface="Aptos"/>
              </a:rPr>
              <a:t>03 · THOUGHTFUL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303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8223B"/>
                </a:solidFill>
                <a:latin typeface="Aptos Display"/>
              </a:rPr>
              <a:t>Helpful little shortcuts for campus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18F"/>
                </a:solidFill>
                <a:latin typeface="Aptos"/>
              </a:rPr>
              <a:t>The goal isn't AI for its own sake. It's less admin, easier discovery and better connections.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9436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4718F"/>
                </a:solidFill>
                <a:latin typeface="Aptos"/>
              </a:rPr>
              <a:t>04/08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2180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084832"/>
            <a:ext cx="548640" cy="548640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03704"/>
            <a:ext cx="548640" cy="2011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41F3A"/>
                </a:solidFill>
                <a:latin typeface="Aptos"/>
              </a:rPr>
              <a:t>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002536"/>
            <a:ext cx="4023360" cy="1554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1">
                <a:solidFill>
                  <a:srgbClr val="3F70F2"/>
                </a:solidFill>
                <a:latin typeface="Aptos"/>
              </a:rPr>
              <a:t>COLLAB COMPASS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240280"/>
            <a:ext cx="4069080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23B"/>
                </a:solidFill>
                <a:latin typeface="Aptos Display"/>
              </a:rPr>
              <a:t>Meet your next teammate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78608"/>
            <a:ext cx="406908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Suggest potential collaborators based on skills, interests and project goals.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32180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3096" y="2084832"/>
            <a:ext cx="548640" cy="548640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203704"/>
            <a:ext cx="548640" cy="2011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41F3A"/>
                </a:solidFill>
                <a:latin typeface="Aptos"/>
              </a:rPr>
              <a:t>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2002536"/>
            <a:ext cx="4023360" cy="1554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1">
                <a:solidFill>
                  <a:srgbClr val="8E7BFF"/>
                </a:solidFill>
                <a:latin typeface="Aptos"/>
              </a:rPr>
              <a:t>DATE DOCTOR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240280"/>
            <a:ext cx="4069080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23B"/>
                </a:solidFill>
                <a:latin typeface="Aptos Display"/>
              </a:rPr>
              <a:t>Find a better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2578608"/>
            <a:ext cx="406908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Help organizers spot timing clashes and consider alternatives.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10128"/>
            <a:ext cx="532180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3566160"/>
            <a:ext cx="548640" cy="548640"/>
          </a:xfrm>
          <a:prstGeom prst="ellipse">
            <a:avLst/>
          </a:prstGeom>
          <a:solidFill>
            <a:srgbClr val="FF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685032"/>
            <a:ext cx="548640" cy="2011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41F3A"/>
                </a:solidFill>
                <a:latin typeface="Aptos"/>
              </a:rPr>
              <a:t>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483864"/>
            <a:ext cx="4023360" cy="1554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1">
                <a:solidFill>
                  <a:srgbClr val="FF897D"/>
                </a:solidFill>
                <a:latin typeface="Aptos"/>
              </a:rPr>
              <a:t>EVENT LAUNCHPAD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21608"/>
            <a:ext cx="4069080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23B"/>
                </a:solidFill>
                <a:latin typeface="Aptos Display"/>
              </a:rPr>
              <a:t>Get an event off the ground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059936"/>
            <a:ext cx="406908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Help turn event notes into clear, useful event details.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10128"/>
            <a:ext cx="532180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3096" y="3566160"/>
            <a:ext cx="548640" cy="548640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2"/>
            <a:ext cx="548640" cy="2011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41F3A"/>
                </a:solidFill>
                <a:latin typeface="Aptos"/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3483864"/>
            <a:ext cx="4023360" cy="1554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1">
                <a:solidFill>
                  <a:srgbClr val="70D6B2"/>
                </a:solidFill>
                <a:latin typeface="Aptos"/>
              </a:rPr>
              <a:t>ASK CAMPUSCONNECT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3721608"/>
            <a:ext cx="4069080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23B"/>
                </a:solidFill>
                <a:latin typeface="Aptos Display"/>
              </a:rPr>
              <a:t>Ask instead of searching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059936"/>
            <a:ext cx="406908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A conversational way to get campus guidance and find relevant opportunities.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10912"/>
            <a:ext cx="10945368" cy="758952"/>
          </a:xfrm>
          <a:prstGeom prst="roundRect">
            <a:avLst>
              <a:gd name="adj" fmla="val 12000"/>
            </a:avLst>
          </a:prstGeom>
          <a:solidFill>
            <a:srgbClr val="E6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202936"/>
            <a:ext cx="132588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3F70F2"/>
                </a:solidFill>
                <a:latin typeface="Aptos"/>
              </a:rPr>
              <a:t>ALSO ON THE ROADMAP</a:t>
            </a:r>
          </a:p>
        </p:txBody>
      </p:sp>
      <p:sp>
        <p:nvSpPr>
          <p:cNvPr id="32" name="Oval 31"/>
          <p:cNvSpPr/>
          <p:nvPr/>
        </p:nvSpPr>
        <p:spPr>
          <a:xfrm>
            <a:off x="2487168" y="5330952"/>
            <a:ext cx="128016" cy="128016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5285232"/>
            <a:ext cx="2240280" cy="21945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8223B"/>
                </a:solidFill>
                <a:latin typeface="Aptos"/>
              </a:rPr>
              <a:t>Smarter search</a:t>
            </a:r>
          </a:p>
        </p:txBody>
      </p:sp>
      <p:sp>
        <p:nvSpPr>
          <p:cNvPr id="34" name="Oval 33"/>
          <p:cNvSpPr/>
          <p:nvPr/>
        </p:nvSpPr>
        <p:spPr>
          <a:xfrm>
            <a:off x="5230368" y="5330952"/>
            <a:ext cx="128016" cy="128016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9824" y="5285232"/>
            <a:ext cx="2240280" cy="21945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8223B"/>
                </a:solidFill>
                <a:latin typeface="Aptos"/>
              </a:rPr>
              <a:t>QR event check-in</a:t>
            </a:r>
          </a:p>
        </p:txBody>
      </p:sp>
      <p:sp>
        <p:nvSpPr>
          <p:cNvPr id="36" name="Oval 35"/>
          <p:cNvSpPr/>
          <p:nvPr/>
        </p:nvSpPr>
        <p:spPr>
          <a:xfrm>
            <a:off x="7973568" y="5330952"/>
            <a:ext cx="128016" cy="128016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3024" y="5285232"/>
            <a:ext cx="2240280" cy="21945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8223B"/>
                </a:solidFill>
                <a:latin typeface="Aptos"/>
              </a:rPr>
              <a:t>Live 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5980176"/>
            <a:ext cx="1069848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4718F"/>
                </a:solidFill>
                <a:latin typeface="Aptos"/>
              </a:rPr>
              <a:t>These are intended capabilities; confirm which AI services are working in the current prototype before demo day.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47104"/>
            <a:ext cx="457200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64718F"/>
                </a:solidFill>
                <a:latin typeface="Aptos"/>
              </a:rPr>
              <a:t>CAMPUSCONNECT  ·  HACKATHON PROJECT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80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22992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33304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43615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53928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64240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274552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84863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822960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C2FF"/>
                </a:solidFill>
                <a:latin typeface="Aptos"/>
              </a:rPr>
              <a:t>04 · BEHIND THE SCENES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303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 Display"/>
              </a:rPr>
              <a:t>A clear core, with room to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CD7"/>
                </a:solidFill>
                <a:latin typeface="Aptos"/>
              </a:rPr>
              <a:t>The main app handles the everyday experience; specialist services can add intelligence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9436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AEBCD7"/>
                </a:solidFill>
                <a:latin typeface="Aptos"/>
              </a:rPr>
              <a:t>05/08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38528"/>
            <a:ext cx="2240280" cy="1115568"/>
          </a:xfrm>
          <a:prstGeom prst="roundRect">
            <a:avLst>
              <a:gd name="adj" fmla="val 12000"/>
            </a:avLst>
          </a:prstGeom>
          <a:solidFill>
            <a:srgbClr val="20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38528"/>
            <a:ext cx="2240280" cy="5486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48840"/>
            <a:ext cx="1965960" cy="17373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F70F2"/>
                </a:solidFill>
                <a:latin typeface="Aptos"/>
              </a:rPr>
              <a:t>1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23160"/>
            <a:ext cx="1965960" cy="42062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Next.js · React
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38528"/>
            <a:ext cx="2240280" cy="1115568"/>
          </a:xfrm>
          <a:prstGeom prst="roundRect">
            <a:avLst>
              <a:gd name="adj" fmla="val 12000"/>
            </a:avLst>
          </a:prstGeom>
          <a:solidFill>
            <a:srgbClr val="20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938528"/>
            <a:ext cx="2240280" cy="54864"/>
          </a:xfrm>
          <a:prstGeom prst="rect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148840"/>
            <a:ext cx="1965960" cy="17373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8E7BFF"/>
                </a:solidFill>
                <a:latin typeface="Aptos"/>
              </a:rPr>
              <a:t>2  API &amp;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423160"/>
            <a:ext cx="1965960" cy="42062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Node.js · Express
REST ·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1938528"/>
            <a:ext cx="2240280" cy="1115568"/>
          </a:xfrm>
          <a:prstGeom prst="roundRect">
            <a:avLst>
              <a:gd name="adj" fmla="val 12000"/>
            </a:avLst>
          </a:prstGeom>
          <a:solidFill>
            <a:srgbClr val="20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1938528"/>
            <a:ext cx="2240280" cy="54864"/>
          </a:xfrm>
          <a:prstGeom prst="rect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148840"/>
            <a:ext cx="1965960" cy="17373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0D6B2"/>
                </a:solidFill>
                <a:latin typeface="Aptos"/>
              </a:rPr>
              <a:t>3 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423160"/>
            <a:ext cx="1965960" cy="42062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PostgreSQL
Prisma ORM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2496312"/>
            <a:ext cx="374904" cy="0"/>
          </a:xfrm>
          <a:prstGeom prst="line">
            <a:avLst/>
          </a:prstGeom>
          <a:ln w="25400">
            <a:solidFill>
              <a:srgbClr val="66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23560" y="2496312"/>
            <a:ext cx="374904" cy="0"/>
          </a:xfrm>
          <a:prstGeom prst="line">
            <a:avLst/>
          </a:prstGeom>
          <a:ln w="25400">
            <a:solidFill>
              <a:srgbClr val="66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23960" y="1938528"/>
            <a:ext cx="2697480" cy="1115568"/>
          </a:xfrm>
          <a:prstGeom prst="roundRect">
            <a:avLst>
              <a:gd name="adj" fmla="val 12000"/>
            </a:avLst>
          </a:prstGeom>
          <a:solidFill>
            <a:srgbClr val="292A5E"/>
          </a:solidFill>
          <a:ln w="12700">
            <a:solidFill>
              <a:srgbClr val="8E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2121408"/>
            <a:ext cx="2359152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8E7BFF"/>
                </a:solidFill>
                <a:latin typeface="Aptos"/>
              </a:rPr>
              <a:t>AI SERVICES · TO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404872"/>
            <a:ext cx="2359152" cy="35661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Python / FastAPI
Collab · Events · Q&amp;A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23560" y="2148840"/>
            <a:ext cx="3136392" cy="0"/>
          </a:xfrm>
          <a:prstGeom prst="line">
            <a:avLst/>
          </a:prstGeom>
          <a:ln w="19050">
            <a:solidFill>
              <a:srgbClr val="8E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611880"/>
            <a:ext cx="3401568" cy="1042415"/>
          </a:xfrm>
          <a:prstGeom prst="roundRect">
            <a:avLst>
              <a:gd name="adj" fmla="val 12000"/>
            </a:avLst>
          </a:prstGeom>
          <a:solidFill>
            <a:srgbClr val="1C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776472"/>
            <a:ext cx="3072384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C2FF"/>
                </a:solidFill>
                <a:latin typeface="Aptos"/>
              </a:rPr>
              <a:t>LIVE &amp; BACKGROUND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041648"/>
            <a:ext cx="3072384" cy="24688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WebSockets · Redis · BullMQ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370832"/>
            <a:ext cx="3072384" cy="14630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AEBCD7"/>
                </a:solidFill>
                <a:latin typeface="Aptos"/>
              </a:rPr>
              <a:t>VERIFY / PLANNED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611880"/>
            <a:ext cx="3401568" cy="1042415"/>
          </a:xfrm>
          <a:prstGeom prst="roundRect">
            <a:avLst>
              <a:gd name="adj" fmla="val 12000"/>
            </a:avLst>
          </a:prstGeom>
          <a:solidFill>
            <a:srgbClr val="1C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776472"/>
            <a:ext cx="3072384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E6E"/>
                </a:solidFill>
                <a:latin typeface="Aptos"/>
              </a:rPr>
              <a:t>CONNECTORS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041648"/>
            <a:ext cx="3072384" cy="24688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Search · Media · Email / push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370832"/>
            <a:ext cx="3072384" cy="14630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AEBCD7"/>
                </a:solidFill>
                <a:latin typeface="Aptos"/>
              </a:rPr>
              <a:t>PLANNED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611880"/>
            <a:ext cx="3401568" cy="1042415"/>
          </a:xfrm>
          <a:prstGeom prst="roundRect">
            <a:avLst>
              <a:gd name="adj" fmla="val 12000"/>
            </a:avLst>
          </a:prstGeom>
          <a:solidFill>
            <a:srgbClr val="1C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3776472"/>
            <a:ext cx="3072384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897D"/>
                </a:solidFill>
                <a:latin typeface="Aptos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041648"/>
            <a:ext cx="3072384" cy="24688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Docker · CI/CD · Monitoring ·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4370832"/>
            <a:ext cx="3072384" cy="14630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AEBCD7"/>
                </a:solidFill>
                <a:latin typeface="Aptos"/>
              </a:rPr>
              <a:t>PLANNED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047488"/>
            <a:ext cx="10863072" cy="713232"/>
          </a:xfrm>
          <a:prstGeom prst="roundRect">
            <a:avLst>
              <a:gd name="adj" fmla="val 12000"/>
            </a:avLst>
          </a:prstGeom>
          <a:solidFill>
            <a:srgbClr val="1C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85232"/>
            <a:ext cx="150876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C2FF"/>
                </a:solidFill>
                <a:latin typeface="Aptos"/>
              </a:rPr>
              <a:t>A TYPICAL REQUEST</a:t>
            </a:r>
          </a:p>
        </p:txBody>
      </p:sp>
      <p:sp>
        <p:nvSpPr>
          <p:cNvPr id="38" name="Oval 37"/>
          <p:cNvSpPr/>
          <p:nvPr/>
        </p:nvSpPr>
        <p:spPr>
          <a:xfrm>
            <a:off x="2560320" y="5239512"/>
            <a:ext cx="256032" cy="256032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5294376"/>
            <a:ext cx="256032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>
                <a:solidFill>
                  <a:srgbClr val="141F3A"/>
                </a:solidFill>
                <a:latin typeface="Aptos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98648" y="5266944"/>
            <a:ext cx="1664208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Student opens app</a:t>
            </a:r>
          </a:p>
        </p:txBody>
      </p:sp>
      <p:sp>
        <p:nvSpPr>
          <p:cNvPr id="41" name="Oval 40"/>
          <p:cNvSpPr/>
          <p:nvPr/>
        </p:nvSpPr>
        <p:spPr>
          <a:xfrm>
            <a:off x="4773168" y="5239512"/>
            <a:ext cx="256032" cy="256032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73168" y="5294376"/>
            <a:ext cx="256032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>
                <a:solidFill>
                  <a:srgbClr val="141F3A"/>
                </a:solidFill>
                <a:latin typeface="Aptos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1496" y="5266944"/>
            <a:ext cx="1664208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API handles request</a:t>
            </a:r>
          </a:p>
        </p:txBody>
      </p:sp>
      <p:sp>
        <p:nvSpPr>
          <p:cNvPr id="44" name="Oval 43"/>
          <p:cNvSpPr/>
          <p:nvPr/>
        </p:nvSpPr>
        <p:spPr>
          <a:xfrm>
            <a:off x="6986016" y="5239512"/>
            <a:ext cx="256032" cy="256032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86016" y="5294376"/>
            <a:ext cx="256032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>
                <a:solidFill>
                  <a:srgbClr val="141F3A"/>
                </a:solidFill>
                <a:latin typeface="Aptos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24344" y="5266944"/>
            <a:ext cx="1664208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Data is read / saved</a:t>
            </a:r>
          </a:p>
        </p:txBody>
      </p:sp>
      <p:sp>
        <p:nvSpPr>
          <p:cNvPr id="47" name="Oval 46"/>
          <p:cNvSpPr/>
          <p:nvPr/>
        </p:nvSpPr>
        <p:spPr>
          <a:xfrm>
            <a:off x="9198863" y="5239512"/>
            <a:ext cx="256032" cy="256032"/>
          </a:xfrm>
          <a:prstGeom prst="ellipse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98863" y="5294376"/>
            <a:ext cx="256032" cy="10972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>
                <a:solidFill>
                  <a:srgbClr val="141F3A"/>
                </a:solidFill>
                <a:latin typeface="Apto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7191" y="5266944"/>
            <a:ext cx="1664208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App shows response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016752"/>
            <a:ext cx="1069848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AEBCD7"/>
                </a:solidFill>
                <a:latin typeface="Aptos"/>
              </a:rPr>
              <a:t>Concept architecture: label components as implemented only after checking the current repository.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547104"/>
            <a:ext cx="457200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AEBCD7"/>
                </a:solidFill>
                <a:latin typeface="Aptos"/>
              </a:rPr>
              <a:t>CAMPUSCONNECT  ·  HACKATHON PROJECT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12680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22992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433304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43615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853928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064240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274552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84863" y="6565392"/>
            <a:ext cx="137160" cy="32004"/>
          </a:xfrm>
          <a:prstGeom prst="rect">
            <a:avLst/>
          </a:prstGeom>
          <a:solidFill>
            <a:srgbClr val="344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822960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F70F2"/>
                </a:solidFill>
                <a:latin typeface="Aptos"/>
              </a:rPr>
              <a:t>05 · THE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303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8223B"/>
                </a:solidFill>
                <a:latin typeface="Aptos Display"/>
              </a:rPr>
              <a:t>Technology that supports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18F"/>
                </a:solidFill>
                <a:latin typeface="Aptos"/>
              </a:rPr>
              <a:t>A modern web foundation today, with room to add services when the product needs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9436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4718F"/>
                </a:solidFill>
                <a:latin typeface="Aptos"/>
              </a:rPr>
              <a:t>06/08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47088"/>
            <a:ext cx="345643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048256"/>
            <a:ext cx="109728" cy="109728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011680"/>
            <a:ext cx="274320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3F70F2"/>
                </a:solidFill>
                <a:latin typeface="Aptos"/>
              </a:rPr>
              <a:t>THE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86000"/>
            <a:ext cx="3017520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 Display"/>
              </a:rPr>
              <a:t>Next.js · React · TypeScript
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2999232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64718F"/>
                </a:solidFill>
                <a:latin typeface="Aptos"/>
              </a:rPr>
              <a:t>Pages that feel quick, clear and consistent.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47088"/>
            <a:ext cx="345643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048256"/>
            <a:ext cx="109728" cy="109728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1456" y="2011680"/>
            <a:ext cx="274320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8E7BFF"/>
                </a:solidFill>
                <a:latin typeface="Aptos"/>
              </a:rPr>
              <a:t>THE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86000"/>
            <a:ext cx="3017520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 Display"/>
              </a:rPr>
              <a:t>Node.js · Express ·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61488"/>
            <a:ext cx="2999232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64718F"/>
                </a:solidFill>
                <a:latin typeface="Aptos"/>
              </a:rPr>
              <a:t>A central place for app rules and requests.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47088"/>
            <a:ext cx="345643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2048256"/>
            <a:ext cx="109728" cy="109728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2011680"/>
            <a:ext cx="274320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0D6B2"/>
                </a:solidFill>
                <a:latin typeface="Aptos"/>
              </a:rPr>
              <a:t>THE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017520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 Display"/>
              </a:rPr>
              <a:t>PostgreSQL · Prisma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61488"/>
            <a:ext cx="2999232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64718F"/>
                </a:solidFill>
                <a:latin typeface="Aptos"/>
              </a:rPr>
              <a:t>Structured data with a clear model.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19856"/>
            <a:ext cx="345643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3621024"/>
            <a:ext cx="109728" cy="109728"/>
          </a:xfrm>
          <a:prstGeom prst="ellipse">
            <a:avLst/>
          </a:prstGeom>
          <a:solidFill>
            <a:srgbClr val="FF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3584448"/>
            <a:ext cx="274320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897D"/>
                </a:solidFill>
                <a:latin typeface="Aptos"/>
              </a:rPr>
              <a:t>THE AI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3858768"/>
            <a:ext cx="3017520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 Display"/>
              </a:rPr>
              <a:t>Python · FastAPI · LLMs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334256"/>
            <a:ext cx="2999232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64718F"/>
                </a:solidFill>
                <a:latin typeface="Aptos"/>
              </a:rPr>
              <a:t>A possible home for focused AI services.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419856"/>
            <a:ext cx="345643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3621024"/>
            <a:ext cx="109728" cy="109728"/>
          </a:xfrm>
          <a:prstGeom prst="ellipse">
            <a:avLst/>
          </a:prstGeom>
          <a:solidFill>
            <a:srgbClr val="FFC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1456" y="3584448"/>
            <a:ext cx="274320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E6E"/>
                </a:solidFill>
                <a:latin typeface="Aptos"/>
              </a:rPr>
              <a:t>LIVE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858768"/>
            <a:ext cx="3017520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 Display"/>
              </a:rPr>
              <a:t>WebSockets · Redis · BullMQ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4334256"/>
            <a:ext cx="2999232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64718F"/>
                </a:solidFill>
                <a:latin typeface="Aptos"/>
              </a:rPr>
              <a:t>Useful for live updates and queued tasks.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3419856"/>
            <a:ext cx="345643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02752" y="3621024"/>
            <a:ext cx="109728" cy="109728"/>
          </a:xfrm>
          <a:prstGeom prst="ellipse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8" y="3584448"/>
            <a:ext cx="274320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C2FF"/>
                </a:solidFill>
                <a:latin typeface="Aptos"/>
              </a:rPr>
              <a:t>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858768"/>
            <a:ext cx="3017520" cy="3657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 Display"/>
              </a:rPr>
              <a:t>Docker · GitHub Actions ·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334256"/>
            <a:ext cx="2999232" cy="265176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64718F"/>
                </a:solidFill>
                <a:latin typeface="Aptos"/>
              </a:rPr>
              <a:t>A path toward repeatable builds and releases.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285232"/>
            <a:ext cx="10927080" cy="621792"/>
          </a:xfrm>
          <a:prstGeom prst="roundRect">
            <a:avLst>
              <a:gd name="adj" fmla="val 12000"/>
            </a:avLst>
          </a:prstGeom>
          <a:solidFill>
            <a:srgbClr val="E5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477256"/>
            <a:ext cx="1234440" cy="1554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3F70F2"/>
                </a:solidFill>
                <a:latin typeface="Aptos"/>
              </a:rPr>
              <a:t>OUR APPROACH</a:t>
            </a:r>
          </a:p>
        </p:txBody>
      </p:sp>
      <p:sp>
        <p:nvSpPr>
          <p:cNvPr id="38" name="Oval 37"/>
          <p:cNvSpPr/>
          <p:nvPr/>
        </p:nvSpPr>
        <p:spPr>
          <a:xfrm>
            <a:off x="2331720" y="5532120"/>
            <a:ext cx="109728" cy="109728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5486400"/>
            <a:ext cx="182880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8223B"/>
                </a:solidFill>
                <a:latin typeface="Aptos"/>
              </a:rPr>
              <a:t>Build in modules</a:t>
            </a:r>
          </a:p>
        </p:txBody>
      </p:sp>
      <p:sp>
        <p:nvSpPr>
          <p:cNvPr id="40" name="Oval 39"/>
          <p:cNvSpPr/>
          <p:nvPr/>
        </p:nvSpPr>
        <p:spPr>
          <a:xfrm>
            <a:off x="4507992" y="5532120"/>
            <a:ext cx="109728" cy="109728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90872" y="5486400"/>
            <a:ext cx="182880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8223B"/>
                </a:solidFill>
                <a:latin typeface="Aptos"/>
              </a:rPr>
              <a:t>Reuse components</a:t>
            </a:r>
          </a:p>
        </p:txBody>
      </p:sp>
      <p:sp>
        <p:nvSpPr>
          <p:cNvPr id="42" name="Oval 41"/>
          <p:cNvSpPr/>
          <p:nvPr/>
        </p:nvSpPr>
        <p:spPr>
          <a:xfrm>
            <a:off x="6684264" y="5532120"/>
            <a:ext cx="109728" cy="109728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67144" y="5486400"/>
            <a:ext cx="182880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8223B"/>
                </a:solidFill>
                <a:latin typeface="Aptos"/>
              </a:rPr>
              <a:t>Protect accounts</a:t>
            </a:r>
          </a:p>
        </p:txBody>
      </p:sp>
      <p:sp>
        <p:nvSpPr>
          <p:cNvPr id="44" name="Oval 43"/>
          <p:cNvSpPr/>
          <p:nvPr/>
        </p:nvSpPr>
        <p:spPr>
          <a:xfrm>
            <a:off x="8860536" y="5532120"/>
            <a:ext cx="109728" cy="109728"/>
          </a:xfrm>
          <a:prstGeom prst="ellipse">
            <a:avLst/>
          </a:prstGeom>
          <a:solidFill>
            <a:srgbClr val="FF8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43415" y="5486400"/>
            <a:ext cx="182880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8223B"/>
                </a:solidFill>
                <a:latin typeface="Aptos"/>
              </a:rPr>
              <a:t>Test before scaling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6080760"/>
            <a:ext cx="1051560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4718F"/>
                </a:solidFill>
                <a:latin typeface="Aptos"/>
              </a:rPr>
              <a:t>Some technologies above are planned options, not claims that every integration is already running.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547104"/>
            <a:ext cx="457200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64718F"/>
                </a:solidFill>
                <a:latin typeface="Aptos"/>
              </a:rPr>
              <a:t>CAMPUSCONNECT  ·  HACKATHON PROJECT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22992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33304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43615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53928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064240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274552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484863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822960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F70F2"/>
                </a:solidFill>
                <a:latin typeface="Aptos"/>
              </a:rPr>
              <a:t>06 · TRUST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303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8223B"/>
                </a:solidFill>
                <a:latin typeface="Aptos Display"/>
              </a:rPr>
              <a:t>Build something people can rely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18F"/>
                </a:solidFill>
                <a:latin typeface="Aptos"/>
              </a:rPr>
              <a:t>A useful campus platform should be secure, dependable and genuinely easier to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9436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4718F"/>
                </a:solidFill>
                <a:latin typeface="Aptos"/>
              </a:rPr>
              <a:t>07/08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56231"/>
            <a:ext cx="3456432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084831"/>
            <a:ext cx="484632" cy="484632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03704"/>
            <a:ext cx="484632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F3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43200"/>
            <a:ext cx="3017520" cy="3840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 Display"/>
              </a:rPr>
              <a:t>KEEP PEOPLE SAFE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3355848"/>
            <a:ext cx="100584" cy="100584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310128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Use secure sign-in and permissions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3785615"/>
            <a:ext cx="100584" cy="100584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739896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Validate incoming data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4215383"/>
            <a:ext cx="100584" cy="100584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169664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Protect keys and private settings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" y="4645152"/>
            <a:ext cx="100584" cy="100584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4599432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Test and monitor failures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1856231"/>
            <a:ext cx="3456432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0288" y="2084831"/>
            <a:ext cx="484632" cy="484632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2203704"/>
            <a:ext cx="484632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F3A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743200"/>
            <a:ext cx="3017520" cy="3840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 Display"/>
              </a:rPr>
              <a:t>GROW WITHOUT THE MESS</a:t>
            </a:r>
          </a:p>
        </p:txBody>
      </p:sp>
      <p:sp>
        <p:nvSpPr>
          <p:cNvPr id="22" name="Oval 21"/>
          <p:cNvSpPr/>
          <p:nvPr/>
        </p:nvSpPr>
        <p:spPr>
          <a:xfrm>
            <a:off x="4617720" y="3355848"/>
            <a:ext cx="100584" cy="100584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3310128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Keep services modular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3785615"/>
            <a:ext cx="100584" cy="100584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3739896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Move slow work into background jobs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4215383"/>
            <a:ext cx="100584" cy="100584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4169664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Make discovery faster as content grows</a:t>
            </a:r>
          </a:p>
        </p:txBody>
      </p:sp>
      <p:sp>
        <p:nvSpPr>
          <p:cNvPr id="28" name="Oval 27"/>
          <p:cNvSpPr/>
          <p:nvPr/>
        </p:nvSpPr>
        <p:spPr>
          <a:xfrm>
            <a:off x="4617720" y="4645152"/>
            <a:ext cx="100584" cy="100584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4599432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Automate builds and deployment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1856231"/>
            <a:ext cx="3456432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2084831"/>
            <a:ext cx="484632" cy="484632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203704"/>
            <a:ext cx="484632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F3A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743200"/>
            <a:ext cx="3017520" cy="38404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223B"/>
                </a:solidFill>
                <a:latin typeface="Aptos Display"/>
              </a:rPr>
              <a:t>MAKE CAMPUS FEEL CLOSER</a:t>
            </a:r>
          </a:p>
        </p:txBody>
      </p:sp>
      <p:sp>
        <p:nvSpPr>
          <p:cNvPr id="34" name="Oval 33"/>
          <p:cNvSpPr/>
          <p:nvPr/>
        </p:nvSpPr>
        <p:spPr>
          <a:xfrm>
            <a:off x="8348471" y="3355848"/>
            <a:ext cx="100584" cy="100584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310128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Help students find their people</a:t>
            </a:r>
          </a:p>
        </p:txBody>
      </p:sp>
      <p:sp>
        <p:nvSpPr>
          <p:cNvPr id="36" name="Oval 35"/>
          <p:cNvSpPr/>
          <p:nvPr/>
        </p:nvSpPr>
        <p:spPr>
          <a:xfrm>
            <a:off x="8348471" y="3785615"/>
            <a:ext cx="100584" cy="100584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739896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Give clubs more visibility</a:t>
            </a:r>
          </a:p>
        </p:txBody>
      </p:sp>
      <p:sp>
        <p:nvSpPr>
          <p:cNvPr id="38" name="Oval 37"/>
          <p:cNvSpPr/>
          <p:nvPr/>
        </p:nvSpPr>
        <p:spPr>
          <a:xfrm>
            <a:off x="8348471" y="4215383"/>
            <a:ext cx="100584" cy="100584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169664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Make events easier to discover</a:t>
            </a:r>
          </a:p>
        </p:txBody>
      </p:sp>
      <p:sp>
        <p:nvSpPr>
          <p:cNvPr id="40" name="Oval 39"/>
          <p:cNvSpPr/>
          <p:nvPr/>
        </p:nvSpPr>
        <p:spPr>
          <a:xfrm>
            <a:off x="8348471" y="4645152"/>
            <a:ext cx="100584" cy="100584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599432"/>
            <a:ext cx="2697480" cy="3017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18F"/>
                </a:solidFill>
                <a:latin typeface="Aptos"/>
              </a:rPr>
              <a:t>Help organizers manage activity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720" y="5760720"/>
            <a:ext cx="9802368" cy="420624"/>
          </a:xfrm>
          <a:prstGeom prst="roundRect">
            <a:avLst>
              <a:gd name="adj" fmla="val 12000"/>
            </a:avLst>
          </a:prstGeom>
          <a:solidFill>
            <a:srgbClr val="E5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879592"/>
            <a:ext cx="941832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F70F2"/>
                </a:solidFill>
                <a:latin typeface="Aptos"/>
              </a:rPr>
              <a:t>The impact we want: less friction for students, more connection across campus.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47104"/>
            <a:ext cx="457200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64718F"/>
                </a:solidFill>
                <a:latin typeface="Aptos"/>
              </a:rPr>
              <a:t>CAMPUSCONNECT  ·  HACKATHON PROJECT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12680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222992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33304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43615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53928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064240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274552" y="6565392"/>
            <a:ext cx="137160" cy="32004"/>
          </a:xfrm>
          <a:prstGeom prst="rect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84863" y="6565392"/>
            <a:ext cx="137160" cy="32004"/>
          </a:xfrm>
          <a:prstGeom prst="rect">
            <a:avLst/>
          </a:prstGeom>
          <a:solidFill>
            <a:srgbClr val="DC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822960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C2FF"/>
                </a:solidFill>
                <a:latin typeface="Aptos"/>
              </a:rPr>
              <a:t>07 ·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72800" cy="53035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 Display"/>
              </a:rPr>
              <a:t>A solid start. Plenty more to 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CD7"/>
                </a:solidFill>
                <a:latin typeface="Aptos"/>
              </a:rPr>
              <a:t>The prototype gives us a foundation; the next step is to validate, connect and polish the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94360" cy="18288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AEBCD7"/>
                </a:solidFill>
                <a:latin typeface="Aptos"/>
              </a:rPr>
              <a:t>08/08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3566160" cy="3986784"/>
          </a:xfrm>
          <a:prstGeom prst="roundRect">
            <a:avLst>
              <a:gd name="adj" fmla="val 12000"/>
            </a:avLst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0D6B2"/>
                </a:solidFill>
                <a:latin typeface="Aptos"/>
              </a:rPr>
              <a:t>THE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26080" cy="3474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What we have to build on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3081528"/>
            <a:ext cx="155448" cy="155448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59" y="3118104"/>
            <a:ext cx="146304" cy="9144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>
                <a:solidFill>
                  <a:srgbClr val="141F3A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3063240"/>
            <a:ext cx="269748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E5EBF8"/>
                </a:solidFill>
                <a:latin typeface="Aptos"/>
              </a:rPr>
              <a:t>Monorepo scaffold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520440"/>
            <a:ext cx="155448" cy="155448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59" y="3557016"/>
            <a:ext cx="146304" cy="9144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>
                <a:solidFill>
                  <a:srgbClr val="141F3A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3502152"/>
            <a:ext cx="269748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E5EBF8"/>
                </a:solidFill>
                <a:latin typeface="Aptos"/>
              </a:rPr>
              <a:t>Initial frontend and API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59352"/>
            <a:ext cx="155448" cy="155448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" y="3995928"/>
            <a:ext cx="146304" cy="9144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>
                <a:solidFill>
                  <a:srgbClr val="141F3A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3941064"/>
            <a:ext cx="269748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E5EBF8"/>
                </a:solidFill>
                <a:latin typeface="Aptos"/>
              </a:rPr>
              <a:t>Database schema and seed data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398264"/>
            <a:ext cx="155448" cy="155448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" y="4434840"/>
            <a:ext cx="146304" cy="9144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>
                <a:solidFill>
                  <a:srgbClr val="141F3A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4379976"/>
            <a:ext cx="269748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E5EBF8"/>
                </a:solidFill>
                <a:latin typeface="Aptos"/>
              </a:rPr>
              <a:t>Authentication and basic routes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37176"/>
            <a:ext cx="155448" cy="155448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59" y="4873752"/>
            <a:ext cx="146304" cy="9144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1">
                <a:solidFill>
                  <a:srgbClr val="141F3A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7864" y="4818888"/>
            <a:ext cx="269748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E5EBF8"/>
                </a:solidFill>
                <a:latin typeface="Aptos"/>
              </a:rPr>
              <a:t>Prototype available to demonstrate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2880360" cy="16459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FFCE6E"/>
                </a:solidFill>
                <a:latin typeface="Aptos"/>
              </a:rPr>
              <a:t>Confirm against the current repo.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1938528"/>
            <a:ext cx="621792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C2FF"/>
                </a:solidFill>
                <a:latin typeface="Aptos"/>
              </a:rPr>
              <a:t>THE NEXT CHAPTER</a:t>
            </a:r>
          </a:p>
        </p:txBody>
      </p:sp>
      <p:sp>
        <p:nvSpPr>
          <p:cNvPr id="26" name="Oval 25"/>
          <p:cNvSpPr/>
          <p:nvPr/>
        </p:nvSpPr>
        <p:spPr>
          <a:xfrm>
            <a:off x="4700016" y="2331720"/>
            <a:ext cx="310896" cy="310896"/>
          </a:xfrm>
          <a:prstGeom prst="ellipse">
            <a:avLst/>
          </a:prstGeom>
          <a:solidFill>
            <a:srgbClr val="3F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2414015"/>
            <a:ext cx="310896" cy="1188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41F3A"/>
                </a:solidFill>
                <a:latin typeface="Aptos"/>
              </a:rPr>
              <a:t>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37176" y="2651760"/>
            <a:ext cx="22860" cy="265176"/>
          </a:xfrm>
          <a:prstGeom prst="rect">
            <a:avLst/>
          </a:prstGeom>
          <a:solidFill>
            <a:srgbClr val="46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3792" y="2327148"/>
            <a:ext cx="2286000" cy="21031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Bring AI services to life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331720"/>
            <a:ext cx="356616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AEBCD7"/>
                </a:solidFill>
                <a:latin typeface="Aptos"/>
              </a:rPr>
              <a:t>Connect and test the focused AI features.</a:t>
            </a:r>
          </a:p>
        </p:txBody>
      </p:sp>
      <p:sp>
        <p:nvSpPr>
          <p:cNvPr id="31" name="Oval 30"/>
          <p:cNvSpPr/>
          <p:nvPr/>
        </p:nvSpPr>
        <p:spPr>
          <a:xfrm>
            <a:off x="4700016" y="2944368"/>
            <a:ext cx="310896" cy="310896"/>
          </a:xfrm>
          <a:prstGeom prst="ellipse">
            <a:avLst/>
          </a:prstGeom>
          <a:solidFill>
            <a:srgbClr val="8E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3026663"/>
            <a:ext cx="310896" cy="1188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41F3A"/>
                </a:solidFill>
                <a:latin typeface="Aptos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37176" y="3264408"/>
            <a:ext cx="22860" cy="265176"/>
          </a:xfrm>
          <a:prstGeom prst="rect">
            <a:avLst/>
          </a:prstGeom>
          <a:solidFill>
            <a:srgbClr val="46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2939796"/>
            <a:ext cx="2286000" cy="21031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Make it feel more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2944368"/>
            <a:ext cx="356616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AEBCD7"/>
                </a:solidFill>
                <a:latin typeface="Aptos"/>
              </a:rPr>
              <a:t>Add collaboration and useful notifications.</a:t>
            </a:r>
          </a:p>
        </p:txBody>
      </p:sp>
      <p:sp>
        <p:nvSpPr>
          <p:cNvPr id="36" name="Oval 35"/>
          <p:cNvSpPr/>
          <p:nvPr/>
        </p:nvSpPr>
        <p:spPr>
          <a:xfrm>
            <a:off x="4700016" y="3557015"/>
            <a:ext cx="310896" cy="310896"/>
          </a:xfrm>
          <a:prstGeom prst="ellipse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0016" y="3639311"/>
            <a:ext cx="310896" cy="1188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41F3A"/>
                </a:solidFill>
                <a:latin typeface="Aptos"/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37176" y="3877055"/>
            <a:ext cx="22860" cy="265176"/>
          </a:xfrm>
          <a:prstGeom prst="rect">
            <a:avLst/>
          </a:prstGeom>
          <a:solidFill>
            <a:srgbClr val="46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3792" y="3552444"/>
            <a:ext cx="2286000" cy="21031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Help people find more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3557015"/>
            <a:ext cx="356616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AEBCD7"/>
                </a:solidFill>
                <a:latin typeface="Aptos"/>
              </a:rPr>
              <a:t>Improve search and event discovery.</a:t>
            </a:r>
          </a:p>
        </p:txBody>
      </p:sp>
      <p:sp>
        <p:nvSpPr>
          <p:cNvPr id="41" name="Oval 40"/>
          <p:cNvSpPr/>
          <p:nvPr/>
        </p:nvSpPr>
        <p:spPr>
          <a:xfrm>
            <a:off x="4700016" y="4169664"/>
            <a:ext cx="310896" cy="310896"/>
          </a:xfrm>
          <a:prstGeom prst="ellipse">
            <a:avLst/>
          </a:prstGeom>
          <a:solidFill>
            <a:srgbClr val="70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0016" y="4251960"/>
            <a:ext cx="310896" cy="1188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41F3A"/>
                </a:solidFill>
                <a:latin typeface="Aptos"/>
              </a:rPr>
              <a:t>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37176" y="4489704"/>
            <a:ext cx="22860" cy="265176"/>
          </a:xfrm>
          <a:prstGeom prst="rect">
            <a:avLst/>
          </a:prstGeom>
          <a:solidFill>
            <a:srgbClr val="46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93792" y="4165092"/>
            <a:ext cx="2286000" cy="21031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Make it dependable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169664"/>
            <a:ext cx="356616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AEBCD7"/>
                </a:solidFill>
                <a:latin typeface="Aptos"/>
              </a:rPr>
              <a:t>Strengthen tests, accessibility and security.</a:t>
            </a:r>
          </a:p>
        </p:txBody>
      </p:sp>
      <p:sp>
        <p:nvSpPr>
          <p:cNvPr id="46" name="Oval 45"/>
          <p:cNvSpPr/>
          <p:nvPr/>
        </p:nvSpPr>
        <p:spPr>
          <a:xfrm>
            <a:off x="4700016" y="4782312"/>
            <a:ext cx="310896" cy="310896"/>
          </a:xfrm>
          <a:prstGeom prst="ellipse">
            <a:avLst/>
          </a:prstGeom>
          <a:solidFill>
            <a:srgbClr val="FFC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0016" y="4864608"/>
            <a:ext cx="310896" cy="11887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41F3A"/>
                </a:solidFill>
                <a:latin typeface="Aptos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93792" y="4777740"/>
            <a:ext cx="2286000" cy="210312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Prepare to grow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4782312"/>
            <a:ext cx="3566160" cy="22860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AEBCD7"/>
                </a:solidFill>
                <a:latin typeface="Aptos"/>
              </a:rPr>
              <a:t>Explore mobile/PWA and automated deployment.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81728" y="5559552"/>
            <a:ext cx="6839712" cy="548640"/>
          </a:xfrm>
          <a:prstGeom prst="roundRect">
            <a:avLst>
              <a:gd name="adj" fmla="val 12000"/>
            </a:avLst>
          </a:prstGeom>
          <a:solidFill>
            <a:srgbClr val="203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28032" y="5715000"/>
            <a:ext cx="6537960" cy="201168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6C2FF"/>
                </a:solidFill>
                <a:latin typeface="Aptos"/>
              </a:rPr>
              <a:t>CampusConnect — Building a smarter, more connected campus.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6199632"/>
            <a:ext cx="6675120" cy="146304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1">
                <a:solidFill>
                  <a:srgbClr val="AEBCD7"/>
                </a:solidFill>
                <a:latin typeface="Aptos"/>
              </a:rPr>
              <a:t>Discover. Collaborate. Participate. Grow.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547104"/>
            <a:ext cx="4572000" cy="137160"/>
          </a:xfrm>
          <a:prstGeom prst="rect">
            <a:avLst/>
          </a:prstGeom>
          <a:noFill/>
        </p:spPr>
        <p:txBody>
          <a:bodyPr wrap="square" lIns="22860" rIns="2286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AEBCD7"/>
                </a:solidFill>
                <a:latin typeface="Aptos"/>
              </a:rPr>
              <a:t>CAMPUSCONNECT  ·  HACKATHON PROJECT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12680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33304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643615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53928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64240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274552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484863" y="6565392"/>
            <a:ext cx="137160" cy="32004"/>
          </a:xfrm>
          <a:prstGeom prst="rect">
            <a:avLst/>
          </a:prstGeom>
          <a:solidFill>
            <a:srgbClr val="66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CampusConnect — Humanized Hackathon Presentation</dc:title>
  <dc:subject>Student-centred eight-slide CampusConnect pitch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