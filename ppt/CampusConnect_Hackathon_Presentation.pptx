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001000" y="822960"/>
            <a:ext cx="3291840" cy="3291840"/>
          </a:xfrm>
          <a:prstGeom prst="ellipse">
            <a:avLst/>
          </a:prstGeom>
          <a:solidFill>
            <a:srgbClr val="101B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732520" y="1554480"/>
            <a:ext cx="1828800" cy="1828800"/>
          </a:xfrm>
          <a:prstGeom prst="ellipse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253728" y="2075688"/>
            <a:ext cx="786384" cy="786384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183879" y="1417320"/>
            <a:ext cx="320040" cy="320040"/>
          </a:xfrm>
          <a:prstGeom prst="ellipse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44200" y="1508760"/>
            <a:ext cx="320040" cy="320040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458200" y="3886200"/>
            <a:ext cx="320040" cy="320040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35640" y="3977639"/>
            <a:ext cx="320040" cy="320040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829800" y="777240"/>
            <a:ext cx="320040" cy="320040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>
            <a:off x="8339327" y="1572768"/>
            <a:ext cx="1216153" cy="850392"/>
          </a:xfrm>
          <a:prstGeom prst="line">
            <a:avLst/>
          </a:prstGeom>
          <a:ln w="12700">
            <a:solidFill>
              <a:srgbClr val="3A5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9738360" y="1664208"/>
            <a:ext cx="1124712" cy="804672"/>
          </a:xfrm>
          <a:prstGeom prst="line">
            <a:avLst/>
          </a:prstGeom>
          <a:ln w="12700">
            <a:solidFill>
              <a:srgbClr val="3A5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8613648" y="2743200"/>
            <a:ext cx="941832" cy="1280160"/>
          </a:xfrm>
          <a:prstGeom prst="line">
            <a:avLst/>
          </a:prstGeom>
          <a:ln w="12700">
            <a:solidFill>
              <a:srgbClr val="3A5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 flipV="1">
            <a:off x="9738360" y="2743200"/>
            <a:ext cx="1216152" cy="1353312"/>
          </a:xfrm>
          <a:prstGeom prst="line">
            <a:avLst/>
          </a:prstGeom>
          <a:ln w="12700">
            <a:solidFill>
              <a:srgbClr val="3A5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9646920" y="914400"/>
            <a:ext cx="320040" cy="1280160"/>
          </a:xfrm>
          <a:prstGeom prst="line">
            <a:avLst/>
          </a:prstGeom>
          <a:ln w="12700">
            <a:solidFill>
              <a:srgbClr val="3A538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21792" y="640080"/>
            <a:ext cx="1417320" cy="38404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722376"/>
            <a:ext cx="117043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BD5FF"/>
                </a:solidFill>
                <a:latin typeface="Aptos"/>
              </a:rPr>
              <a:t>✦  CAMPUS TECH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1481328"/>
            <a:ext cx="6126480" cy="12618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700" b="1">
                <a:solidFill>
                  <a:srgbClr val="F7F9FF"/>
                </a:solidFill>
                <a:latin typeface="Aptos"/>
              </a:rPr>
              <a:t>CampusConnect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2670048"/>
            <a:ext cx="6035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5BD5FF"/>
                </a:solidFill>
                <a:latin typeface="Aptos"/>
              </a:rPr>
              <a:t>One Campus. Endless Possibilities.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3310128"/>
            <a:ext cx="5440680" cy="7498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E1E9FA"/>
                </a:solidFill>
                <a:latin typeface="Aptos"/>
              </a:rPr>
              <a:t>An AI-powered campus ecosystem bringing students, communities, events and projects together.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4590288"/>
            <a:ext cx="1261872" cy="39319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5528" y="4718304"/>
            <a:ext cx="109728" cy="109728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9264" y="4690872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7F9FF"/>
                </a:solidFill>
                <a:latin typeface="Aptos"/>
              </a:rPr>
              <a:t>COMMUNITIES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084832" y="4590288"/>
            <a:ext cx="1261872" cy="39319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194560" y="4718304"/>
            <a:ext cx="109728" cy="109728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68296" y="4690872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7F9FF"/>
                </a:solidFill>
                <a:latin typeface="Aptos"/>
              </a:rPr>
              <a:t>EVENTS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83864" y="4590288"/>
            <a:ext cx="1261872" cy="39319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593592" y="4718304"/>
            <a:ext cx="109728" cy="109728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767328" y="4690872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7F9FF"/>
                </a:solidFill>
                <a:latin typeface="Aptos"/>
              </a:rPr>
              <a:t>PROJECTS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882896" y="4590288"/>
            <a:ext cx="1261872" cy="39319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992624" y="4718304"/>
            <a:ext cx="109728" cy="109728"/>
          </a:xfrm>
          <a:prstGeom prst="ellipse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166359" y="4690872"/>
            <a:ext cx="91440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20" b="1">
                <a:solidFill>
                  <a:srgbClr val="F7F9FF"/>
                </a:solidFill>
                <a:latin typeface="Aptos"/>
              </a:rPr>
              <a:t>AI DISCOVERY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" y="5870448"/>
            <a:ext cx="50292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ADBAD8"/>
                </a:solidFill>
                <a:latin typeface="Aptos"/>
              </a:rPr>
              <a:t>Discover  ·  Collaborate  ·  Participate  ·  Grow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2752" y="5102352"/>
            <a:ext cx="2834640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7F9FF"/>
                </a:solidFill>
                <a:latin typeface="Aptos"/>
              </a:rPr>
              <a:t>A connected campus,
from one starting point.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D5FF"/>
                </a:solidFill>
                <a:latin typeface="Aptos"/>
              </a:rPr>
              <a:t>01 — THE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9FF"/>
                </a:solidFill>
                <a:latin typeface="Aptos"/>
              </a:rPr>
              <a:t>Campus life is disconnected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AD8"/>
                </a:solidFill>
                <a:latin typeface="Aptos"/>
              </a:rPr>
              <a:t>Opportunities exist—but students often have to piece them together across separate channels.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38404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AD8"/>
                </a:solidFill>
                <a:latin typeface="Aptos"/>
              </a:rPr>
              <a:t>02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5321808" cy="144475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130552"/>
            <a:ext cx="502920" cy="502920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19456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A1128"/>
                </a:solidFill>
                <a:latin typeface="Aptos"/>
              </a:rPr>
              <a:t>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17904" y="21031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57EFF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17904" y="2340863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9FF"/>
                </a:solidFill>
                <a:latin typeface="Aptos"/>
              </a:rPr>
              <a:t>Scattered updates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17904" y="2706624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DBAD8"/>
                </a:solidFill>
                <a:latin typeface="Aptos"/>
              </a:rPr>
              <a:t>Announcements live across chats, portals and social feeds.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6208" y="1874519"/>
            <a:ext cx="5321808" cy="144475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64808" y="2130552"/>
            <a:ext cx="502920" cy="502920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4808" y="2194560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A1128"/>
                </a:solidFill>
                <a:latin typeface="Aptos"/>
              </a:rPr>
              <a:t>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10312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55B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40863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9FF"/>
                </a:solidFill>
                <a:latin typeface="Aptos"/>
              </a:rPr>
              <a:t>Hard to find your people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706624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DBAD8"/>
                </a:solidFill>
                <a:latin typeface="Aptos"/>
              </a:rPr>
              <a:t>Finding teammates with matching skills and interests takes effort.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657600"/>
            <a:ext cx="5321808" cy="144475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0392" y="3913632"/>
            <a:ext cx="502920" cy="502920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3977639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A1128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17904" y="388620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25C"/>
                </a:solidFill>
                <a:latin typeface="Aptos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17904" y="4123944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9FF"/>
                </a:solidFill>
                <a:latin typeface="Aptos"/>
              </a:rPr>
              <a:t>Events get missed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17904" y="4489704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DBAD8"/>
                </a:solidFill>
                <a:latin typeface="Aptos"/>
              </a:rPr>
              <a:t>Conflicting schedules and fragmented event details reduce participation.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36208" y="3657600"/>
            <a:ext cx="5321808" cy="144475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64808" y="3913632"/>
            <a:ext cx="502920" cy="502920"/>
          </a:xfrm>
          <a:prstGeom prst="ellipse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64808" y="3977639"/>
            <a:ext cx="50292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A1128"/>
                </a:solidFill>
                <a:latin typeface="Aptos"/>
              </a:rPr>
              <a:t>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3886200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D5FF"/>
                </a:solidFill>
                <a:latin typeface="Aptos"/>
              </a:rP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4123944"/>
            <a:ext cx="4114800" cy="29260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7F9FF"/>
                </a:solidFill>
                <a:latin typeface="Aptos"/>
              </a:rPr>
              <a:t>Low project visibility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32320" y="4489704"/>
            <a:ext cx="4114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ADBAD8"/>
                </a:solidFill>
                <a:latin typeface="Aptos"/>
              </a:rPr>
              <a:t>Projects, resources and collaboration calls can be hard to discover.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874519" y="5596128"/>
            <a:ext cx="8458200" cy="530352"/>
          </a:xfrm>
          <a:prstGeom prst="roundRect">
            <a:avLst>
              <a:gd name="adj" fmla="val 12000"/>
            </a:avLst>
          </a:prstGeom>
          <a:solidFill>
            <a:srgbClr val="1930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103120" y="5733288"/>
            <a:ext cx="80010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5BD5FF"/>
                </a:solidFill>
                <a:latin typeface="Aptos"/>
              </a:rPr>
              <a:t>Students need one connected platform—not another disconnected tool.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D5FF"/>
                </a:solidFill>
                <a:latin typeface="Aptos"/>
              </a:rPr>
              <a:t>02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9FF"/>
                </a:solidFill>
                <a:latin typeface="Aptos"/>
              </a:rPr>
              <a:t>One connected campus ecosystem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AD8"/>
                </a:solidFill>
                <a:latin typeface="Aptos"/>
              </a:rPr>
              <a:t>A single destination to discover people, participate in campus life and move ideas forward.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38404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AD8"/>
                </a:solidFill>
                <a:latin typeface="Aptos"/>
              </a:rPr>
              <a:t>03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6492240" cy="4160520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1828800"/>
            <a:ext cx="6492240" cy="457200"/>
          </a:xfrm>
          <a:prstGeom prst="rect">
            <a:avLst/>
          </a:prstGeom>
          <a:solidFill>
            <a:srgbClr val="DEE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41248" y="1993392"/>
            <a:ext cx="100584" cy="100584"/>
          </a:xfrm>
          <a:prstGeom prst="ellipse">
            <a:avLst/>
          </a:prstGeom>
          <a:solidFill>
            <a:srgbClr val="FF7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24128" y="1993392"/>
            <a:ext cx="100584" cy="100584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207008" y="1993392"/>
            <a:ext cx="100584" cy="100584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00200" y="1947672"/>
            <a:ext cx="29260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CampusConnect  /  Discover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" y="2542032"/>
            <a:ext cx="960120" cy="3154680"/>
          </a:xfrm>
          <a:prstGeom prst="roundRect">
            <a:avLst>
              <a:gd name="adj" fmla="val 12000"/>
            </a:avLst>
          </a:prstGeom>
          <a:solidFill>
            <a:srgbClr val="E1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724912"/>
            <a:ext cx="7315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566A95"/>
                </a:solidFill>
                <a:latin typeface="Aptos"/>
              </a:rPr>
              <a:t>MENU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" y="3054096"/>
            <a:ext cx="758952" cy="283464"/>
          </a:xfrm>
          <a:prstGeom prst="roundRect">
            <a:avLst>
              <a:gd name="adj" fmla="val 12000"/>
            </a:avLst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42415" y="3127248"/>
            <a:ext cx="6400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1">
                <a:solidFill>
                  <a:srgbClr val="F7F9FF"/>
                </a:solidFill>
                <a:latin typeface="Aptos"/>
              </a:rPr>
              <a:t>Home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3493008"/>
            <a:ext cx="758952" cy="283464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42415" y="3566160"/>
            <a:ext cx="6400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0A1128"/>
                </a:solidFill>
                <a:latin typeface="Aptos"/>
              </a:rPr>
              <a:t>Events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7552" y="3931920"/>
            <a:ext cx="758952" cy="283464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2415" y="4005072"/>
            <a:ext cx="6400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0A1128"/>
                </a:solidFill>
                <a:latin typeface="Aptos"/>
              </a:rPr>
              <a:t>Groups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87552" y="4370831"/>
            <a:ext cx="758952" cy="283464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2415" y="4443983"/>
            <a:ext cx="6400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0A1128"/>
                </a:solidFill>
                <a:latin typeface="Aptos"/>
              </a:rPr>
              <a:t>Projects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809744"/>
            <a:ext cx="758952" cy="283464"/>
          </a:xfrm>
          <a:prstGeom prst="roundRect">
            <a:avLst>
              <a:gd name="adj" fmla="val 12000"/>
            </a:avLst>
          </a:prstGeom>
          <a:solidFill>
            <a:srgbClr val="EF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42415" y="4882896"/>
            <a:ext cx="64008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00" b="0">
                <a:solidFill>
                  <a:srgbClr val="0A1128"/>
                </a:solidFill>
                <a:latin typeface="Aptos"/>
              </a:rPr>
              <a:t>Messages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121408" y="2578608"/>
            <a:ext cx="42062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0A1128"/>
                </a:solidFill>
                <a:latin typeface="Aptos"/>
              </a:rPr>
              <a:t>Find your next campus connection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30552" y="2944368"/>
            <a:ext cx="42976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53658F"/>
                </a:solidFill>
                <a:latin typeface="Aptos"/>
              </a:rPr>
              <a:t>People, events and projects selected for you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121408" y="3401568"/>
            <a:ext cx="1426464" cy="2057400"/>
          </a:xfrm>
          <a:prstGeom prst="roundRect">
            <a:avLst>
              <a:gd name="adj" fmla="val 12000"/>
            </a:avLst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121408" y="3401568"/>
            <a:ext cx="1426464" cy="594360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240279" y="3566160"/>
            <a:ext cx="246888" cy="246888"/>
          </a:xfrm>
          <a:prstGeom prst="ellipse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40279" y="3602736"/>
            <a:ext cx="24688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457EFF"/>
                </a:solidFill>
                <a:latin typeface="Aptos"/>
              </a:rPr>
              <a:t>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31136" y="4142232"/>
            <a:ext cx="1207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1">
                <a:solidFill>
                  <a:srgbClr val="457EFF"/>
                </a:solidFill>
                <a:latin typeface="Aptos"/>
              </a:rPr>
              <a:t>COMMUNITY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231136" y="4425696"/>
            <a:ext cx="1188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1128"/>
                </a:solidFill>
                <a:latin typeface="Aptos"/>
              </a:rPr>
              <a:t>AI &amp; Robotics Club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231136" y="498348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96789"/>
                </a:solidFill>
                <a:latin typeface="Aptos"/>
              </a:rPr>
              <a:t>Meet builders on campus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94176" y="3401568"/>
            <a:ext cx="1426464" cy="2057400"/>
          </a:xfrm>
          <a:prstGeom prst="roundRect">
            <a:avLst>
              <a:gd name="adj" fmla="val 12000"/>
            </a:avLst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694176" y="3401568"/>
            <a:ext cx="1426464" cy="594360"/>
          </a:xfrm>
          <a:prstGeom prst="rect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13048" y="3566160"/>
            <a:ext cx="246888" cy="246888"/>
          </a:xfrm>
          <a:prstGeom prst="ellipse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13048" y="3602736"/>
            <a:ext cx="24688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755BFF"/>
                </a:solidFill>
                <a:latin typeface="Aptos"/>
              </a:rPr>
              <a:t>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03904" y="4142232"/>
            <a:ext cx="1207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1">
                <a:solidFill>
                  <a:srgbClr val="755BFF"/>
                </a:solidFill>
                <a:latin typeface="Aptos"/>
              </a:rPr>
              <a:t>UPCOMING EVENT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03904" y="4425696"/>
            <a:ext cx="1188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1128"/>
                </a:solidFill>
                <a:latin typeface="Aptos"/>
              </a:rPr>
              <a:t>Build Night · Friday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803904" y="498348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96789"/>
                </a:solidFill>
                <a:latin typeface="Aptos"/>
              </a:rPr>
              <a:t>Register and join the room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266944" y="3401568"/>
            <a:ext cx="1426464" cy="2057400"/>
          </a:xfrm>
          <a:prstGeom prst="roundRect">
            <a:avLst>
              <a:gd name="adj" fmla="val 12000"/>
            </a:avLst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266944" y="3401568"/>
            <a:ext cx="1426464" cy="594360"/>
          </a:xfrm>
          <a:prstGeom prst="rect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5385816" y="3566160"/>
            <a:ext cx="246888" cy="246888"/>
          </a:xfrm>
          <a:prstGeom prst="ellipse">
            <a:avLst/>
          </a:prstGeom>
          <a:solidFill>
            <a:srgbClr val="F7F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85816" y="3602736"/>
            <a:ext cx="246888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52DCAE"/>
                </a:solidFill>
                <a:latin typeface="Aptos"/>
              </a:rPr>
              <a:t>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76672" y="4142232"/>
            <a:ext cx="1207008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620" b="1">
                <a:solidFill>
                  <a:srgbClr val="52DCAE"/>
                </a:solidFill>
                <a:latin typeface="Aptos"/>
              </a:rPr>
              <a:t>PROJECT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76672" y="4425696"/>
            <a:ext cx="11887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A1128"/>
                </a:solidFill>
                <a:latin typeface="Aptos"/>
              </a:rPr>
              <a:t>Campus Sustainability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76672" y="4983480"/>
            <a:ext cx="11887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596789"/>
                </a:solidFill>
                <a:latin typeface="Aptos"/>
              </a:rPr>
              <a:t>Looking for a design partner</a:t>
            </a:r>
          </a:p>
        </p:txBody>
      </p:sp>
      <p:sp>
        <p:nvSpPr>
          <p:cNvPr id="47" name="Oval 46"/>
          <p:cNvSpPr/>
          <p:nvPr/>
        </p:nvSpPr>
        <p:spPr>
          <a:xfrm>
            <a:off x="7635240" y="1947672"/>
            <a:ext cx="320040" cy="320040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35240" y="2002536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9872" y="1901952"/>
            <a:ext cx="32918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7F9FF"/>
                </a:solidFill>
                <a:latin typeface="Aptos"/>
              </a:rPr>
              <a:t>Discover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19872" y="2212848"/>
            <a:ext cx="3246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Communities and like-minded students</a:t>
            </a:r>
          </a:p>
        </p:txBody>
      </p:sp>
      <p:sp>
        <p:nvSpPr>
          <p:cNvPr id="51" name="Oval 50"/>
          <p:cNvSpPr/>
          <p:nvPr/>
        </p:nvSpPr>
        <p:spPr>
          <a:xfrm>
            <a:off x="7635240" y="2898648"/>
            <a:ext cx="320040" cy="320040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635240" y="2953512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2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19872" y="2852928"/>
            <a:ext cx="32918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7F9FF"/>
                </a:solidFill>
                <a:latin typeface="Aptos"/>
              </a:rPr>
              <a:t>Participate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119872" y="3163824"/>
            <a:ext cx="3246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Events, registrations and reminders</a:t>
            </a:r>
          </a:p>
        </p:txBody>
      </p:sp>
      <p:sp>
        <p:nvSpPr>
          <p:cNvPr id="55" name="Oval 54"/>
          <p:cNvSpPr/>
          <p:nvPr/>
        </p:nvSpPr>
        <p:spPr>
          <a:xfrm>
            <a:off x="7635240" y="3849624"/>
            <a:ext cx="320040" cy="320040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35240" y="3904488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3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19872" y="3803904"/>
            <a:ext cx="32918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7F9FF"/>
                </a:solidFill>
                <a:latin typeface="Aptos"/>
              </a:rPr>
              <a:t>Build together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19872" y="4114800"/>
            <a:ext cx="3246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Projects, discussions and teamwork</a:t>
            </a:r>
          </a:p>
        </p:txBody>
      </p:sp>
      <p:sp>
        <p:nvSpPr>
          <p:cNvPr id="59" name="Oval 58"/>
          <p:cNvSpPr/>
          <p:nvPr/>
        </p:nvSpPr>
        <p:spPr>
          <a:xfrm>
            <a:off x="7635240" y="4800600"/>
            <a:ext cx="320040" cy="320040"/>
          </a:xfrm>
          <a:prstGeom prst="ellipse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35240" y="4855464"/>
            <a:ext cx="320040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4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19872" y="4754880"/>
            <a:ext cx="3291840" cy="2468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F7F9FF"/>
                </a:solidFill>
                <a:latin typeface="Aptos"/>
              </a:rPr>
              <a:t>Get guidance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119872" y="5065776"/>
            <a:ext cx="32461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Intelligent search and AI assistance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635240" y="5833872"/>
            <a:ext cx="36576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25C"/>
                </a:solidFill>
                <a:latin typeface="Aptos"/>
              </a:rPr>
              <a:t>CONCEPTUAL PRODUCT MOCKUP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D5FF"/>
                </a:solidFill>
                <a:latin typeface="Aptos"/>
              </a:rPr>
              <a:t>03 — AI-POWERED INNOVATION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9FF"/>
                </a:solidFill>
                <a:latin typeface="Aptos"/>
              </a:rPr>
              <a:t>Useful AI, built around campus life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AD8"/>
                </a:solidFill>
                <a:latin typeface="Aptos"/>
              </a:rPr>
              <a:t>Four focused services—supported by smarter discovery, event access and communication.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38404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AD8"/>
                </a:solidFill>
                <a:latin typeface="Aptos"/>
              </a:rPr>
              <a:t>04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5349240" cy="1325880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9536" y="2103120"/>
            <a:ext cx="585216" cy="585216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9536" y="2221992"/>
            <a:ext cx="58521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A1128"/>
                </a:solidFill>
                <a:latin typeface="Aptos"/>
              </a:rPr>
              <a:t>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9344" y="2029968"/>
            <a:ext cx="3977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457EFF"/>
                </a:solidFill>
                <a:latin typeface="Aptos"/>
              </a:rPr>
              <a:t>COLLAB COMPASS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9344" y="2276856"/>
            <a:ext cx="4069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9FF"/>
                </a:solidFill>
                <a:latin typeface="Aptos"/>
              </a:rPr>
              <a:t>Find compatible collaborators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9344" y="2633472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Match skills, interests, goals and project needs.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2783" y="1828800"/>
            <a:ext cx="5349240" cy="1325880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510527" y="2103120"/>
            <a:ext cx="585216" cy="585216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7" y="2221992"/>
            <a:ext cx="58521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A1128"/>
                </a:solidFill>
                <a:latin typeface="Aptos"/>
              </a:rPr>
              <a:t>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2029968"/>
            <a:ext cx="3977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755BFF"/>
                </a:solidFill>
                <a:latin typeface="Aptos"/>
              </a:rPr>
              <a:t>DATE DOCTOR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60336" y="2276856"/>
            <a:ext cx="4069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9FF"/>
                </a:solidFill>
                <a:latin typeface="Aptos"/>
              </a:rPr>
              <a:t>Make event timing smarter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0336" y="2633472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Identify scheduling conflicts and suggest better timings.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" y="3401568"/>
            <a:ext cx="5349240" cy="1325880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59536" y="3675887"/>
            <a:ext cx="585216" cy="585216"/>
          </a:xfrm>
          <a:prstGeom prst="ellipse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9536" y="3794759"/>
            <a:ext cx="58521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A1128"/>
                </a:solidFill>
                <a:latin typeface="Aptos"/>
              </a:rPr>
              <a:t>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9344" y="3602736"/>
            <a:ext cx="3977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BD5FF"/>
                </a:solidFill>
                <a:latin typeface="Aptos"/>
              </a:rPr>
              <a:t>EVENT LAUNCHPAD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9344" y="3849624"/>
            <a:ext cx="4069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9FF"/>
                </a:solidFill>
                <a:latin typeface="Aptos"/>
              </a:rPr>
              <a:t>Help organizers launch faster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9344" y="4206240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Extract event details and help prepare event information.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72783" y="3401568"/>
            <a:ext cx="5349240" cy="1325880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510527" y="3675887"/>
            <a:ext cx="585216" cy="585216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0527" y="3794759"/>
            <a:ext cx="585216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0A1128"/>
                </a:solidFill>
                <a:latin typeface="Aptos"/>
              </a:rPr>
              <a:t>✦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0336" y="3602736"/>
            <a:ext cx="397763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52DCAE"/>
                </a:solidFill>
                <a:latin typeface="Aptos"/>
              </a:rPr>
              <a:t>ASK CAMPUSCONNECT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0336" y="3849624"/>
            <a:ext cx="4069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7F9FF"/>
                </a:solidFill>
                <a:latin typeface="Aptos"/>
              </a:rPr>
              <a:t>Ask campus-related questions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0336" y="4206240"/>
            <a:ext cx="402336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ADBAD8"/>
                </a:solidFill>
                <a:latin typeface="Aptos"/>
              </a:rPr>
              <a:t>Conversational help for navigation and relevant opportunities.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" y="5175504"/>
            <a:ext cx="10963656" cy="758952"/>
          </a:xfrm>
          <a:prstGeom prst="roundRect">
            <a:avLst>
              <a:gd name="adj" fmla="val 12000"/>
            </a:avLst>
          </a:prstGeom>
          <a:solidFill>
            <a:srgbClr val="13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248" y="5330952"/>
            <a:ext cx="1417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D5FF"/>
                </a:solidFill>
                <a:latin typeface="Aptos"/>
              </a:rPr>
              <a:t>ALSO IN THE VISION</a:t>
            </a:r>
          </a:p>
        </p:txBody>
      </p:sp>
      <p:sp>
        <p:nvSpPr>
          <p:cNvPr id="32" name="Oval 31"/>
          <p:cNvSpPr/>
          <p:nvPr/>
        </p:nvSpPr>
        <p:spPr>
          <a:xfrm>
            <a:off x="2450592" y="5394960"/>
            <a:ext cx="146304" cy="146304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5358384"/>
            <a:ext cx="2423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Semantic search</a:t>
            </a:r>
          </a:p>
        </p:txBody>
      </p:sp>
      <p:sp>
        <p:nvSpPr>
          <p:cNvPr id="34" name="Oval 33"/>
          <p:cNvSpPr/>
          <p:nvPr/>
        </p:nvSpPr>
        <p:spPr>
          <a:xfrm>
            <a:off x="5330952" y="5394960"/>
            <a:ext cx="146304" cy="146304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86984" y="5358384"/>
            <a:ext cx="2423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QR Campus Passport</a:t>
            </a:r>
          </a:p>
        </p:txBody>
      </p:sp>
      <p:sp>
        <p:nvSpPr>
          <p:cNvPr id="36" name="Oval 35"/>
          <p:cNvSpPr/>
          <p:nvPr/>
        </p:nvSpPr>
        <p:spPr>
          <a:xfrm>
            <a:off x="8211312" y="5394960"/>
            <a:ext cx="146304" cy="146304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67344" y="5358384"/>
            <a:ext cx="242316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Real-time updates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" y="6108192"/>
            <a:ext cx="105156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C25C"/>
                </a:solidFill>
                <a:latin typeface="Aptos"/>
              </a:rPr>
              <a:t>Implementation note: feature cards describe the product vision; operational status should be confirmed against the current prototype.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D5FF"/>
                </a:solidFill>
                <a:latin typeface="Aptos"/>
              </a:rPr>
              <a:t>04 —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9FF"/>
                </a:solidFill>
                <a:latin typeface="Aptos"/>
              </a:rPr>
              <a:t>A modular foundation for a connected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AD8"/>
                </a:solidFill>
                <a:latin typeface="Aptos"/>
              </a:rPr>
              <a:t>Core request flow is shown separately from services and integrations that may still be planned.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38404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AD8"/>
                </a:solidFill>
                <a:latin typeface="Aptos"/>
              </a:rPr>
              <a:t>05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82880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94360" y="1828800"/>
            <a:ext cx="2011680" cy="6400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17007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457EF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267712"/>
            <a:ext cx="170078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Next.js · React
TypeScript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154680" y="182880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154680" y="1828800"/>
            <a:ext cx="2011680" cy="64008"/>
          </a:xfrm>
          <a:prstGeom prst="rect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10128" y="2011680"/>
            <a:ext cx="17007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55BFF"/>
                </a:solidFill>
                <a:latin typeface="Aptos"/>
              </a:rPr>
              <a:t>CORE BACKEND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10128" y="2267712"/>
            <a:ext cx="170078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Node.js · Express
REST APIs · Auth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715000" y="1828800"/>
            <a:ext cx="2011680" cy="1005840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715000" y="1828800"/>
            <a:ext cx="2011680" cy="64008"/>
          </a:xfrm>
          <a:prstGeom prst="rect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70448" y="2011680"/>
            <a:ext cx="1700784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52DCAE"/>
                </a:solidFill>
                <a:latin typeface="Aptos"/>
              </a:rPr>
              <a:t>DATA LAYER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70448" y="2267712"/>
            <a:ext cx="1700784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PostgreSQL
Prisma ORM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615184" y="2331720"/>
            <a:ext cx="493776" cy="0"/>
          </a:xfrm>
          <a:prstGeom prst="line">
            <a:avLst/>
          </a:prstGeom>
          <a:ln w="25400">
            <a:solidFill>
              <a:srgbClr val="5B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5175504" y="2331720"/>
            <a:ext cx="493776" cy="0"/>
          </a:xfrm>
          <a:prstGeom prst="line">
            <a:avLst/>
          </a:prstGeom>
          <a:ln w="25400">
            <a:solidFill>
              <a:srgbClr val="5BD5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339327" y="1810512"/>
            <a:ext cx="3182112" cy="1051560"/>
          </a:xfrm>
          <a:prstGeom prst="roundRect">
            <a:avLst>
              <a:gd name="adj" fmla="val 12000"/>
            </a:avLst>
          </a:prstGeom>
          <a:solidFill>
            <a:srgbClr val="1C2352"/>
          </a:solidFill>
          <a:ln w="12700">
            <a:solidFill>
              <a:srgbClr val="75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22208" y="1965960"/>
            <a:ext cx="2816352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755BFF"/>
                </a:solidFill>
                <a:latin typeface="Aptos"/>
              </a:rPr>
              <a:t>AI &amp; INTELLIGENCE  ·  PLANNED / VERIFY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49640" y="2258568"/>
            <a:ext cx="27432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7F9FF"/>
                </a:solidFill>
                <a:latin typeface="Aptos"/>
              </a:rPr>
              <a:t>Python / FastAPI • 4 AI services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166360" y="2029968"/>
            <a:ext cx="3108960" cy="0"/>
          </a:xfrm>
          <a:prstGeom prst="line">
            <a:avLst/>
          </a:prstGeom>
          <a:ln w="19050">
            <a:solidFill>
              <a:srgbClr val="755B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594360" y="3310128"/>
            <a:ext cx="3246120" cy="102412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3474720"/>
            <a:ext cx="2852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D5FF"/>
                </a:solidFill>
                <a:latin typeface="Aptos"/>
              </a:rPr>
              <a:t>REAL-TIME &amp; BACKGROUND  ·  VERIFY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8" y="3767328"/>
            <a:ext cx="2852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WebSockets • Redis • BullMQ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33087" y="3310128"/>
            <a:ext cx="3246120" cy="102412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34256" y="3474720"/>
            <a:ext cx="285292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25C"/>
                </a:solidFill>
                <a:latin typeface="Aptos"/>
              </a:rPr>
              <a:t>EXTERNAL INTEGRATIONS  ·  PLANNED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34256" y="3767328"/>
            <a:ext cx="2852928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Search • Media • Email / push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71816" y="3310128"/>
            <a:ext cx="3849624" cy="102412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82127" y="3474720"/>
            <a:ext cx="34290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25C"/>
                </a:solidFill>
                <a:latin typeface="Aptos"/>
              </a:rPr>
              <a:t>DELIVERY &amp; OPERATIONS  ·  PLANNED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82127" y="3767328"/>
            <a:ext cx="34290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Docker • CI/CD • Monitoring • Cloud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4736592"/>
            <a:ext cx="10927080" cy="1051560"/>
          </a:xfrm>
          <a:prstGeom prst="roundRect">
            <a:avLst>
              <a:gd name="adj" fmla="val 12000"/>
            </a:avLst>
          </a:prstGeom>
          <a:solidFill>
            <a:srgbClr val="121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1248" y="4919472"/>
            <a:ext cx="1874519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D5FF"/>
                </a:solidFill>
                <a:latin typeface="Aptos"/>
              </a:rPr>
              <a:t>PRIMARY REQUEST FLOW</a:t>
            </a:r>
          </a:p>
        </p:txBody>
      </p:sp>
      <p:sp>
        <p:nvSpPr>
          <p:cNvPr id="35" name="Oval 34"/>
          <p:cNvSpPr/>
          <p:nvPr/>
        </p:nvSpPr>
        <p:spPr>
          <a:xfrm>
            <a:off x="2761488" y="5001768"/>
            <a:ext cx="347472" cy="347472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61488" y="5084064"/>
            <a:ext cx="34747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18688" y="5056632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Browser UI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197096" y="5175504"/>
            <a:ext cx="438912" cy="0"/>
          </a:xfrm>
          <a:prstGeom prst="line">
            <a:avLst/>
          </a:prstGeom>
          <a:ln w="17780">
            <a:solidFill>
              <a:srgbClr val="5D7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4773168" y="5001768"/>
            <a:ext cx="347472" cy="347472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73168" y="5084064"/>
            <a:ext cx="34747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30368" y="5056632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REST API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208776" y="5175504"/>
            <a:ext cx="438912" cy="0"/>
          </a:xfrm>
          <a:prstGeom prst="line">
            <a:avLst/>
          </a:prstGeom>
          <a:ln w="17780">
            <a:solidFill>
              <a:srgbClr val="5D7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6784848" y="5001768"/>
            <a:ext cx="347472" cy="347472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784848" y="5084064"/>
            <a:ext cx="34747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42048" y="5056632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Database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8220456" y="5175504"/>
            <a:ext cx="438911" cy="0"/>
          </a:xfrm>
          <a:prstGeom prst="line">
            <a:avLst/>
          </a:prstGeom>
          <a:ln w="17780">
            <a:solidFill>
              <a:srgbClr val="5D74A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Oval 46"/>
          <p:cNvSpPr/>
          <p:nvPr/>
        </p:nvSpPr>
        <p:spPr>
          <a:xfrm>
            <a:off x="8796528" y="5001768"/>
            <a:ext cx="347472" cy="34747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796528" y="5084064"/>
            <a:ext cx="347472" cy="1371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>
                <a:solidFill>
                  <a:srgbClr val="0A1128"/>
                </a:solidFill>
                <a:latin typeface="Aptos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253728" y="5056632"/>
            <a:ext cx="123444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F7F9FF"/>
                </a:solidFill>
                <a:latin typeface="Aptos"/>
              </a:rPr>
              <a:t>Response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6007608"/>
            <a:ext cx="1088136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Solid flow = core architecture concept. Dashed / labelled areas = proposed integrations; verify repository status before presenting as implemented.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D5FF"/>
                </a:solidFill>
                <a:latin typeface="Aptos"/>
              </a:rPr>
              <a:t>05 — TECHNOLOGY &amp;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9FF"/>
                </a:solidFill>
                <a:latin typeface="Aptos"/>
              </a:rPr>
              <a:t>The stack is modular by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AD8"/>
                </a:solidFill>
                <a:latin typeface="Aptos"/>
              </a:rPr>
              <a:t>Use the right tool for each layer—without hiding the distinction between core and planned capabilities.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38404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AD8"/>
                </a:solidFill>
                <a:latin typeface="Aptos"/>
              </a:rPr>
              <a:t>06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74519"/>
            <a:ext cx="3456432" cy="138988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1792" y="1874519"/>
            <a:ext cx="64008" cy="138988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057400"/>
            <a:ext cx="2971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457EFF"/>
                </a:solidFill>
                <a:latin typeface="Aptos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3134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Next.js · React · TypeScript
Tailwind CSS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843784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A responsive, reusable interface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70831" y="1874519"/>
            <a:ext cx="3456432" cy="138988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70831" y="1874519"/>
            <a:ext cx="64008" cy="1389888"/>
          </a:xfrm>
          <a:prstGeom prst="rect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9431" y="2057400"/>
            <a:ext cx="2971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755BFF"/>
                </a:solidFill>
                <a:latin typeface="Aptos"/>
              </a:rPr>
              <a:t>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1" y="23134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Node.js · Express · REST APIs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9431" y="2843784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A clear API and application layer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19871" y="1874519"/>
            <a:ext cx="3456432" cy="138988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19871" y="1874519"/>
            <a:ext cx="64008" cy="1389888"/>
          </a:xfrm>
          <a:prstGeom prst="rect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48471" y="2057400"/>
            <a:ext cx="2971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2DCAE"/>
                </a:solidFill>
                <a:latin typeface="Aptos"/>
              </a:rPr>
              <a:t>DATABASE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48471" y="2313432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PostgreSQL · Prisma 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1" y="2843784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Structured, maintainable data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" y="3547872"/>
            <a:ext cx="3456432" cy="138988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1792" y="3547872"/>
            <a:ext cx="64008" cy="1389888"/>
          </a:xfrm>
          <a:prstGeom prst="rect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0392" y="3730752"/>
            <a:ext cx="2971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D5FF"/>
                </a:solidFill>
                <a:latin typeface="Aptos"/>
              </a:rPr>
              <a:t>AI 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" y="3986783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Python · FastAPI · LLMs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" y="4517136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Specialized intelligence services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70831" y="3547872"/>
            <a:ext cx="3456432" cy="138988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70831" y="3547872"/>
            <a:ext cx="64008" cy="1389888"/>
          </a:xfrm>
          <a:prstGeom prst="rect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99431" y="3730752"/>
            <a:ext cx="2971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25C"/>
                </a:solidFill>
                <a:latin typeface="Aptos"/>
              </a:rPr>
              <a:t>REAL-TIME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99431" y="3986783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WebSockets · Redis · BullMQ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99431" y="4517136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Live updates and queued 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19871" y="3547872"/>
            <a:ext cx="3456432" cy="1389888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119871" y="3547872"/>
            <a:ext cx="64008" cy="1389888"/>
          </a:xfrm>
          <a:prstGeom prst="rect">
            <a:avLst/>
          </a:prstGeom>
          <a:solidFill>
            <a:srgbClr val="FF75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48471" y="3730752"/>
            <a:ext cx="29718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7591"/>
                </a:solidFill>
                <a:latin typeface="Aptos"/>
              </a:rPr>
              <a:t>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48471" y="3986783"/>
            <a:ext cx="29718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Docker · GitHub Actions
Testing · Monitoring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48471" y="4517136"/>
            <a:ext cx="29718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Repeatable delivery and operations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" y="5477256"/>
            <a:ext cx="10954512" cy="576072"/>
          </a:xfrm>
          <a:prstGeom prst="roundRect">
            <a:avLst>
              <a:gd name="adj" fmla="val 12000"/>
            </a:avLst>
          </a:prstGeom>
          <a:solidFill>
            <a:srgbClr val="182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1248" y="5641848"/>
            <a:ext cx="1298448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5BD5FF"/>
                </a:solidFill>
                <a:latin typeface="Aptos"/>
              </a:rPr>
              <a:t>ENGINEERING</a:t>
            </a:r>
          </a:p>
        </p:txBody>
      </p:sp>
      <p:sp>
        <p:nvSpPr>
          <p:cNvPr id="38" name="Oval 37"/>
          <p:cNvSpPr/>
          <p:nvPr/>
        </p:nvSpPr>
        <p:spPr>
          <a:xfrm>
            <a:off x="2331720" y="5660136"/>
            <a:ext cx="118872" cy="118872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532888" y="562356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7F9FF"/>
                </a:solidFill>
                <a:latin typeface="Aptos"/>
              </a:rPr>
              <a:t>Modular architecture</a:t>
            </a:r>
          </a:p>
        </p:txBody>
      </p:sp>
      <p:sp>
        <p:nvSpPr>
          <p:cNvPr id="40" name="Oval 39"/>
          <p:cNvSpPr/>
          <p:nvPr/>
        </p:nvSpPr>
        <p:spPr>
          <a:xfrm>
            <a:off x="4572000" y="5660136"/>
            <a:ext cx="118872" cy="118872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73168" y="562356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7F9FF"/>
                </a:solidFill>
                <a:latin typeface="Aptos"/>
              </a:rPr>
              <a:t>Reusable components</a:t>
            </a:r>
          </a:p>
        </p:txBody>
      </p:sp>
      <p:sp>
        <p:nvSpPr>
          <p:cNvPr id="42" name="Oval 41"/>
          <p:cNvSpPr/>
          <p:nvPr/>
        </p:nvSpPr>
        <p:spPr>
          <a:xfrm>
            <a:off x="6812280" y="5660136"/>
            <a:ext cx="118872" cy="11887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13448" y="562356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7F9FF"/>
                </a:solidFill>
                <a:latin typeface="Aptos"/>
              </a:rPr>
              <a:t>Secure authentication</a:t>
            </a:r>
          </a:p>
        </p:txBody>
      </p:sp>
      <p:sp>
        <p:nvSpPr>
          <p:cNvPr id="44" name="Oval 43"/>
          <p:cNvSpPr/>
          <p:nvPr/>
        </p:nvSpPr>
        <p:spPr>
          <a:xfrm>
            <a:off x="9052560" y="5660136"/>
            <a:ext cx="118872" cy="118872"/>
          </a:xfrm>
          <a:prstGeom prst="ellipse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253728" y="5623560"/>
            <a:ext cx="1938528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F7F9FF"/>
                </a:solidFill>
                <a:latin typeface="Aptos"/>
              </a:rPr>
              <a:t>Testable &amp; deployable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" y="6153912"/>
            <a:ext cx="1069848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0">
                <a:solidFill>
                  <a:srgbClr val="FFC25C"/>
                </a:solidFill>
                <a:latin typeface="Aptos"/>
              </a:rPr>
              <a:t>Core technologies and planned integrations should be labelled separately based on repository verification.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D5FF"/>
                </a:solidFill>
                <a:latin typeface="Aptos"/>
              </a:rPr>
              <a:t>06 — RESPONSIBLE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9FF"/>
                </a:solidFill>
                <a:latin typeface="Aptos"/>
              </a:rPr>
              <a:t>Designed to earn trust as it scales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AD8"/>
                </a:solidFill>
                <a:latin typeface="Aptos"/>
              </a:rPr>
              <a:t>Security, scalable operations and real-world usefulness need to grow together.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38404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AD8"/>
                </a:solidFill>
                <a:latin typeface="Aptos"/>
              </a:rPr>
              <a:t>07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56231"/>
            <a:ext cx="3456432" cy="363931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50392" y="2103120"/>
            <a:ext cx="502920" cy="502920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22199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128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2770632"/>
            <a:ext cx="2926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SECURITY &amp; RELIABILITY</a:t>
            </a:r>
          </a:p>
        </p:txBody>
      </p:sp>
      <p:sp>
        <p:nvSpPr>
          <p:cNvPr id="10" name="Oval 9"/>
          <p:cNvSpPr/>
          <p:nvPr/>
        </p:nvSpPr>
        <p:spPr>
          <a:xfrm>
            <a:off x="886968" y="3456432"/>
            <a:ext cx="109728" cy="109728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410712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Authentication and role-based access</a:t>
            </a:r>
          </a:p>
        </p:txBody>
      </p:sp>
      <p:sp>
        <p:nvSpPr>
          <p:cNvPr id="12" name="Oval 11"/>
          <p:cNvSpPr/>
          <p:nvPr/>
        </p:nvSpPr>
        <p:spPr>
          <a:xfrm>
            <a:off x="886968" y="3895344"/>
            <a:ext cx="109728" cy="109728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3849624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Input validation and API rate limits</a:t>
            </a:r>
          </a:p>
        </p:txBody>
      </p:sp>
      <p:sp>
        <p:nvSpPr>
          <p:cNvPr id="14" name="Oval 13"/>
          <p:cNvSpPr/>
          <p:nvPr/>
        </p:nvSpPr>
        <p:spPr>
          <a:xfrm>
            <a:off x="886968" y="4334256"/>
            <a:ext cx="109728" cy="109728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288536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Secure secrets and configuration</a:t>
            </a:r>
          </a:p>
        </p:txBody>
      </p:sp>
      <p:sp>
        <p:nvSpPr>
          <p:cNvPr id="16" name="Oval 15"/>
          <p:cNvSpPr/>
          <p:nvPr/>
        </p:nvSpPr>
        <p:spPr>
          <a:xfrm>
            <a:off x="886968" y="4773168"/>
            <a:ext cx="109728" cy="109728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727448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Testing, error handling and observability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1856231"/>
            <a:ext cx="3456432" cy="363931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581144" y="2103120"/>
            <a:ext cx="502920" cy="502920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81144" y="222199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128"/>
                </a:solidFill>
                <a:latin typeface="Aptos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81144" y="2770632"/>
            <a:ext cx="2926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SCALABILITY</a:t>
            </a:r>
          </a:p>
        </p:txBody>
      </p:sp>
      <p:sp>
        <p:nvSpPr>
          <p:cNvPr id="22" name="Oval 21"/>
          <p:cNvSpPr/>
          <p:nvPr/>
        </p:nvSpPr>
        <p:spPr>
          <a:xfrm>
            <a:off x="4617720" y="3456432"/>
            <a:ext cx="109728" cy="109728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828031" y="3410712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Modular services that can evolve</a:t>
            </a:r>
          </a:p>
        </p:txBody>
      </p:sp>
      <p:sp>
        <p:nvSpPr>
          <p:cNvPr id="24" name="Oval 23"/>
          <p:cNvSpPr/>
          <p:nvPr/>
        </p:nvSpPr>
        <p:spPr>
          <a:xfrm>
            <a:off x="4617720" y="3895344"/>
            <a:ext cx="109728" cy="109728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28031" y="3849624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Queues for time-consuming work</a:t>
            </a:r>
          </a:p>
        </p:txBody>
      </p:sp>
      <p:sp>
        <p:nvSpPr>
          <p:cNvPr id="26" name="Oval 25"/>
          <p:cNvSpPr/>
          <p:nvPr/>
        </p:nvSpPr>
        <p:spPr>
          <a:xfrm>
            <a:off x="4617720" y="4334256"/>
            <a:ext cx="109728" cy="109728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28031" y="4288536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Search indexing for faster discovery</a:t>
            </a:r>
          </a:p>
        </p:txBody>
      </p:sp>
      <p:sp>
        <p:nvSpPr>
          <p:cNvPr id="28" name="Oval 27"/>
          <p:cNvSpPr/>
          <p:nvPr/>
        </p:nvSpPr>
        <p:spPr>
          <a:xfrm>
            <a:off x="4617720" y="4773168"/>
            <a:ext cx="109728" cy="109728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28031" y="4727448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Containerized cloud deployment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83296" y="1856231"/>
            <a:ext cx="3456432" cy="3639312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311896" y="2103120"/>
            <a:ext cx="502920" cy="502920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11896" y="2221992"/>
            <a:ext cx="502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A1128"/>
                </a:solidFill>
                <a:latin typeface="Aptos"/>
              </a:rPr>
              <a:t>03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2770632"/>
            <a:ext cx="29260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7F9FF"/>
                </a:solidFill>
                <a:latin typeface="Aptos"/>
              </a:rPr>
              <a:t>EXPECTED IMPACT</a:t>
            </a:r>
          </a:p>
        </p:txBody>
      </p:sp>
      <p:sp>
        <p:nvSpPr>
          <p:cNvPr id="34" name="Oval 33"/>
          <p:cNvSpPr/>
          <p:nvPr/>
        </p:nvSpPr>
        <p:spPr>
          <a:xfrm>
            <a:off x="8348471" y="3456432"/>
            <a:ext cx="109728" cy="109728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58784" y="3410712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Find collaborators and opportunities</a:t>
            </a:r>
          </a:p>
        </p:txBody>
      </p:sp>
      <p:sp>
        <p:nvSpPr>
          <p:cNvPr id="36" name="Oval 35"/>
          <p:cNvSpPr/>
          <p:nvPr/>
        </p:nvSpPr>
        <p:spPr>
          <a:xfrm>
            <a:off x="8348471" y="3895344"/>
            <a:ext cx="109728" cy="109728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558784" y="3849624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Improve community visibility</a:t>
            </a:r>
          </a:p>
        </p:txBody>
      </p:sp>
      <p:sp>
        <p:nvSpPr>
          <p:cNvPr id="38" name="Oval 37"/>
          <p:cNvSpPr/>
          <p:nvPr/>
        </p:nvSpPr>
        <p:spPr>
          <a:xfrm>
            <a:off x="8348471" y="4334256"/>
            <a:ext cx="109728" cy="109728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58784" y="4288536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Simplify event discovery and sign-up</a:t>
            </a:r>
          </a:p>
        </p:txBody>
      </p:sp>
      <p:sp>
        <p:nvSpPr>
          <p:cNvPr id="40" name="Oval 39"/>
          <p:cNvSpPr/>
          <p:nvPr/>
        </p:nvSpPr>
        <p:spPr>
          <a:xfrm>
            <a:off x="8348471" y="4773168"/>
            <a:ext cx="109728" cy="109728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58784" y="4727448"/>
            <a:ext cx="2697480" cy="32918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Give admins clearer campus activity views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188720" y="5760720"/>
            <a:ext cx="9784080" cy="411480"/>
          </a:xfrm>
          <a:prstGeom prst="roundRect">
            <a:avLst>
              <a:gd name="adj" fmla="val 12000"/>
            </a:avLst>
          </a:prstGeom>
          <a:solidFill>
            <a:srgbClr val="192F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371600" y="5870448"/>
            <a:ext cx="941832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5BD5FF"/>
                </a:solidFill>
                <a:latin typeface="Aptos"/>
              </a:rPr>
              <a:t>Build for trust: validate, monitor, protect user data and measure outcomes before scaling.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1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29184"/>
            <a:ext cx="80467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5BD5FF"/>
                </a:solidFill>
                <a:latin typeface="Aptos"/>
              </a:rPr>
              <a:t>07 — PROGRESS &amp;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58368"/>
            <a:ext cx="109728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7F9FF"/>
                </a:solidFill>
                <a:latin typeface="Aptos"/>
              </a:rPr>
              <a:t>A working foundation. A clear path forward.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85216" y="1225296"/>
            <a:ext cx="1088136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ADBAD8"/>
                </a:solidFill>
                <a:latin typeface="Aptos"/>
              </a:rPr>
              <a:t>Start with what exists, validate the prototype, then add intelligence and production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28832" y="384048"/>
            <a:ext cx="3657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>
                <a:solidFill>
                  <a:srgbClr val="ADBAD8"/>
                </a:solidFill>
                <a:latin typeface="Aptos"/>
              </a:rPr>
              <a:t>08 / 08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" y="1828800"/>
            <a:ext cx="3657600" cy="3977639"/>
          </a:xfrm>
          <a:prstGeom prst="roundRect">
            <a:avLst>
              <a:gd name="adj" fmla="val 12000"/>
            </a:avLst>
          </a:prstGeom>
          <a:solidFill>
            <a:srgbClr val="1725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03120"/>
            <a:ext cx="306324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2DCAE"/>
                </a:solidFill>
                <a:latin typeface="Aptos"/>
              </a:rPr>
              <a:t>CURRENT 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2487168"/>
            <a:ext cx="29718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F7F9FF"/>
                </a:solidFill>
                <a:latin typeface="Aptos"/>
              </a:rPr>
              <a:t>Prototype in progress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27248"/>
            <a:ext cx="164592" cy="16459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3136392"/>
            <a:ext cx="9144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A1128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07008" y="3099816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Core monorepo scaffold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566160"/>
            <a:ext cx="164592" cy="16459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3575304"/>
            <a:ext cx="9144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A1128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7008" y="3538728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Initial frontend and API structure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4005072"/>
            <a:ext cx="164592" cy="16459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014216"/>
            <a:ext cx="9144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A1128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3977639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Database schema and seed data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443983"/>
            <a:ext cx="164592" cy="16459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4453128"/>
            <a:ext cx="9144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A1128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4416552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Authentication and basic routes</a:t>
            </a:r>
          </a:p>
        </p:txBody>
      </p:sp>
      <p:sp>
        <p:nvSpPr>
          <p:cNvPr id="21" name="Oval 20"/>
          <p:cNvSpPr/>
          <p:nvPr/>
        </p:nvSpPr>
        <p:spPr>
          <a:xfrm>
            <a:off x="914400" y="4882896"/>
            <a:ext cx="164592" cy="16459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892040"/>
            <a:ext cx="91440" cy="10972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700" b="1">
                <a:solidFill>
                  <a:srgbClr val="0A1128"/>
                </a:solidFill>
                <a:latin typeface="Aptos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07008" y="4855464"/>
            <a:ext cx="269748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E1E9FA"/>
                </a:solidFill>
                <a:latin typeface="Aptos"/>
              </a:rPr>
              <a:t>Working prototype for demonstration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468112"/>
            <a:ext cx="2999232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00" b="1">
                <a:solidFill>
                  <a:srgbClr val="FFC25C"/>
                </a:solidFill>
                <a:latin typeface="Aptos"/>
              </a:rPr>
              <a:t>Confirm each item against the live repo.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1938528"/>
            <a:ext cx="630936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5BD5FF"/>
                </a:solidFill>
                <a:latin typeface="Aptos"/>
              </a:rPr>
              <a:t>NEXT MILESTONES</a:t>
            </a:r>
          </a:p>
        </p:txBody>
      </p:sp>
      <p:sp>
        <p:nvSpPr>
          <p:cNvPr id="26" name="Oval 25"/>
          <p:cNvSpPr/>
          <p:nvPr/>
        </p:nvSpPr>
        <p:spPr>
          <a:xfrm>
            <a:off x="4736592" y="2359152"/>
            <a:ext cx="347472" cy="347472"/>
          </a:xfrm>
          <a:prstGeom prst="ellipse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36592" y="2441448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A1128"/>
                </a:solidFill>
                <a:latin typeface="Aptos"/>
              </a:rPr>
              <a:t>01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92040" y="2724912"/>
            <a:ext cx="32004" cy="283464"/>
          </a:xfrm>
          <a:prstGeom prst="rect">
            <a:avLst/>
          </a:prstGeom>
          <a:solidFill>
            <a:srgbClr val="394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235000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9FF"/>
                </a:solidFill>
                <a:latin typeface="Aptos"/>
              </a:rPr>
              <a:t>Integrate AI services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52944" y="2359152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Collaboration, event timing and campus Q&amp;A</a:t>
            </a:r>
          </a:p>
        </p:txBody>
      </p:sp>
      <p:sp>
        <p:nvSpPr>
          <p:cNvPr id="31" name="Oval 30"/>
          <p:cNvSpPr/>
          <p:nvPr/>
        </p:nvSpPr>
        <p:spPr>
          <a:xfrm>
            <a:off x="4736592" y="2999232"/>
            <a:ext cx="347472" cy="347472"/>
          </a:xfrm>
          <a:prstGeom prst="ellipse">
            <a:avLst/>
          </a:prstGeom>
          <a:solidFill>
            <a:srgbClr val="75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36592" y="3081528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A1128"/>
                </a:solidFill>
                <a:latin typeface="Aptos"/>
              </a:rPr>
              <a:t>02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892040" y="3364992"/>
            <a:ext cx="32004" cy="283464"/>
          </a:xfrm>
          <a:prstGeom prst="rect">
            <a:avLst/>
          </a:prstGeom>
          <a:solidFill>
            <a:srgbClr val="394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285232" y="299008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9FF"/>
                </a:solidFill>
                <a:latin typeface="Aptos"/>
              </a:rPr>
              <a:t>Enable live experiences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52944" y="2999232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Real-time collaboration and notifications</a:t>
            </a:r>
          </a:p>
        </p:txBody>
      </p:sp>
      <p:sp>
        <p:nvSpPr>
          <p:cNvPr id="36" name="Oval 35"/>
          <p:cNvSpPr/>
          <p:nvPr/>
        </p:nvSpPr>
        <p:spPr>
          <a:xfrm>
            <a:off x="4736592" y="3639312"/>
            <a:ext cx="347472" cy="347472"/>
          </a:xfrm>
          <a:prstGeom prst="ellipse">
            <a:avLst/>
          </a:prstGeom>
          <a:solidFill>
            <a:srgbClr val="5BD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3721608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A1128"/>
                </a:solidFill>
                <a:latin typeface="Aptos"/>
              </a:rPr>
              <a:t>03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892040" y="4005072"/>
            <a:ext cx="32004" cy="283464"/>
          </a:xfrm>
          <a:prstGeom prst="rect">
            <a:avLst/>
          </a:prstGeom>
          <a:solidFill>
            <a:srgbClr val="394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85232" y="363016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9FF"/>
                </a:solidFill>
                <a:latin typeface="Aptos"/>
              </a:rPr>
              <a:t>Improve discovery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552944" y="3639312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Semantic search and event-driven indexing</a:t>
            </a:r>
          </a:p>
        </p:txBody>
      </p:sp>
      <p:sp>
        <p:nvSpPr>
          <p:cNvPr id="41" name="Oval 40"/>
          <p:cNvSpPr/>
          <p:nvPr/>
        </p:nvSpPr>
        <p:spPr>
          <a:xfrm>
            <a:off x="4736592" y="4279392"/>
            <a:ext cx="347472" cy="347472"/>
          </a:xfrm>
          <a:prstGeom prst="ellipse">
            <a:avLst/>
          </a:prstGeom>
          <a:solidFill>
            <a:srgbClr val="52DC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36592" y="4361688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A1128"/>
                </a:solidFill>
                <a:latin typeface="Aptos"/>
              </a:rPr>
              <a:t>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92040" y="4645152"/>
            <a:ext cx="32004" cy="283464"/>
          </a:xfrm>
          <a:prstGeom prst="rect">
            <a:avLst/>
          </a:prstGeom>
          <a:solidFill>
            <a:srgbClr val="394E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285232" y="427024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9FF"/>
                </a:solidFill>
                <a:latin typeface="Aptos"/>
              </a:rPr>
              <a:t>Prepare for production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52944" y="4279392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Tests, accessibility, security and monitoring</a:t>
            </a:r>
          </a:p>
        </p:txBody>
      </p:sp>
      <p:sp>
        <p:nvSpPr>
          <p:cNvPr id="46" name="Oval 45"/>
          <p:cNvSpPr/>
          <p:nvPr/>
        </p:nvSpPr>
        <p:spPr>
          <a:xfrm>
            <a:off x="4736592" y="4919472"/>
            <a:ext cx="347472" cy="347472"/>
          </a:xfrm>
          <a:prstGeom prst="ellipse">
            <a:avLst/>
          </a:prstGeom>
          <a:solidFill>
            <a:srgbClr val="FFC2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36592" y="5001768"/>
            <a:ext cx="347472" cy="14630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1">
                <a:solidFill>
                  <a:srgbClr val="0A1128"/>
                </a:solidFill>
                <a:latin typeface="Aptos"/>
              </a:rPr>
              <a:t>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285232" y="4910328"/>
            <a:ext cx="22402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7F9FF"/>
                </a:solidFill>
                <a:latin typeface="Aptos"/>
              </a:rPr>
              <a:t>Expand access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52944" y="4919472"/>
            <a:ext cx="33832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ADBAD8"/>
                </a:solidFill>
                <a:latin typeface="Aptos"/>
              </a:rPr>
              <a:t>PWA / mobile experience and automated deployment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709160" y="5669280"/>
            <a:ext cx="6812280" cy="512064"/>
          </a:xfrm>
          <a:prstGeom prst="roundRect">
            <a:avLst>
              <a:gd name="adj" fmla="val 12000"/>
            </a:avLst>
          </a:prstGeom>
          <a:solidFill>
            <a:srgbClr val="1C30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901184" y="5769864"/>
            <a:ext cx="6400800" cy="21945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5BD5FF"/>
                </a:solidFill>
                <a:latin typeface="Aptos"/>
              </a:rPr>
              <a:t>CampusConnect — Building a Smarter, More Connected Campus.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6254496"/>
            <a:ext cx="6675120" cy="1554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1">
                <a:solidFill>
                  <a:srgbClr val="ADBAD8"/>
                </a:solidFill>
                <a:latin typeface="Aptos"/>
              </a:rPr>
              <a:t>Discover. Collaborate. Participate. Grow.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5216" y="6537960"/>
            <a:ext cx="5029200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>
                <a:solidFill>
                  <a:srgbClr val="ADBAD8"/>
                </a:solidFill>
                <a:latin typeface="Aptos"/>
              </a:rPr>
              <a:t>CAMPUSCONNECT  •  HACKATHON CONCEPT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04011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24128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442448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643616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10844784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045952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247120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448288" y="6556248"/>
            <a:ext cx="137160" cy="41148"/>
          </a:xfrm>
          <a:prstGeom prst="rect">
            <a:avLst/>
          </a:prstGeom>
          <a:solidFill>
            <a:srgbClr val="457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CampusConnect — Hackathon Presentation</dc:title>
  <dc:subject>Eight-slide hackathon presentation for an AI-powered campus collaboration platform</dc:subject>
  <dc:creator>OpenAI</dc:creator>
  <cp:keywords>CampusConnect, hackathon, AI, campus collaboration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