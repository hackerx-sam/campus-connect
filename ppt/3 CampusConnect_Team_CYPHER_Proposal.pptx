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228600"/>
            <a:ext cx="1920240" cy="1920240"/>
          </a:xfrm>
          <a:prstGeom prst="ellipse">
            <a:avLst/>
          </a:prstGeom>
          <a:solidFill>
            <a:srgbClr val="2563E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480560"/>
            <a:ext cx="1097280" cy="1097280"/>
          </a:xfrm>
          <a:prstGeom prst="ellipse">
            <a:avLst/>
          </a:prstGeom>
          <a:solidFill>
            <a:srgbClr val="2563E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303520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38BDF8"/>
                </a:solidFill>
                <a:latin typeface="Aptos"/>
              </a:defRPr>
            </a:pPr>
            <a:r>
              <a:t>ROUND 1  /  SOLUTION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61264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3900" b="1" i="0">
                <a:solidFill>
                  <a:srgbClr val="FFFFFF"/>
                </a:solidFill>
                <a:latin typeface="Aptos"/>
              </a:defRPr>
            </a:pPr>
            <a:r>
              <a:t>CampusConnect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23160"/>
            <a:ext cx="548640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7DD3FC"/>
                </a:solidFill>
                <a:latin typeface="Aptos"/>
              </a:defRPr>
            </a:pPr>
            <a:r>
              <a:t>Connecting Students.</a:t>
            </a:r>
          </a:p>
          <a:p>
            <a:pPr algn="l">
              <a:spcAft>
                <a:spcPts val="300"/>
              </a:spcAft>
              <a:defRPr sz="1800" b="1" i="0">
                <a:solidFill>
                  <a:srgbClr val="7DD3FC"/>
                </a:solidFill>
                <a:latin typeface="Aptos"/>
              </a:defRPr>
            </a:pPr>
            <a:r>
              <a:t>Empowering Collaboration.</a:t>
            </a:r>
          </a:p>
          <a:p>
            <a:pPr algn="l">
              <a:spcAft>
                <a:spcPts val="300"/>
              </a:spcAft>
              <a:defRPr sz="1800" b="1" i="0">
                <a:solidFill>
                  <a:srgbClr val="7DD3FC"/>
                </a:solidFill>
                <a:latin typeface="Aptos"/>
              </a:defRPr>
            </a:pPr>
            <a:r>
              <a:t>Building Campus Communities.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3675887"/>
            <a:ext cx="1024128" cy="54864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968496"/>
            <a:ext cx="5394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DBEAFE"/>
                </a:solidFill>
                <a:latin typeface="Aptos"/>
              </a:defRPr>
            </a:pPr>
            <a:r>
              <a:t>A centralized digital hub for campus opportunities,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DBEAFE"/>
                </a:solidFill>
                <a:latin typeface="Aptos"/>
              </a:defRPr>
            </a:pPr>
            <a:r>
              <a:t>project teams, events, and student communities.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029200"/>
            <a:ext cx="2697480" cy="612648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5157216"/>
            <a:ext cx="235915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PRESENTED BY  TEAM CYPHER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199632"/>
            <a:ext cx="40233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50" b="1" i="0">
                <a:solidFill>
                  <a:srgbClr val="B6D3F2"/>
                </a:solidFill>
                <a:latin typeface="Aptos"/>
              </a:defRPr>
            </a:pPr>
            <a:r>
              <a:t>DISCOVER  •  CONNECT  •  COLLABORATE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777240"/>
            <a:ext cx="4343400" cy="3154680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1078992"/>
            <a:ext cx="3657600" cy="2148840"/>
          </a:xfrm>
          <a:prstGeom prst="rect">
            <a:avLst/>
          </a:prstGeom>
          <a:solidFill>
            <a:srgbClr val="0E3668"/>
          </a:solidFill>
          <a:ln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7818120" y="2011680"/>
            <a:ext cx="1051560" cy="822960"/>
          </a:xfrm>
          <a:prstGeom prst="triangl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8458200" y="2240280"/>
            <a:ext cx="914400" cy="594360"/>
          </a:xfrm>
          <a:prstGeom prst="triangl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12680" y="1481328"/>
            <a:ext cx="320040" cy="32004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6" y="3364992"/>
            <a:ext cx="3429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900" b="1" i="0">
                <a:solidFill>
                  <a:srgbClr val="7DD3FC"/>
                </a:solidFill>
                <a:latin typeface="Aptos"/>
              </a:defRPr>
            </a:pPr>
            <a:r>
              <a:t>INSERT LICENSED CAMPUS 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187952"/>
            <a:ext cx="37490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CONCEPT INTERFACE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4507992"/>
            <a:ext cx="4343400" cy="162763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4645152"/>
            <a:ext cx="15087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CampusConnect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4645152"/>
            <a:ext cx="1554480" cy="219456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4672584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750" b="0" i="0">
                <a:solidFill>
                  <a:srgbClr val="B6D3F2"/>
                </a:solidFill>
                <a:latin typeface="Aptos"/>
              </a:defRPr>
            </a:pPr>
            <a:r>
              <a:t>Search opportunities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33488" y="5047488"/>
            <a:ext cx="1170432" cy="786384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97496" y="5166360"/>
            <a:ext cx="104241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720" b="1" i="0">
                <a:solidFill>
                  <a:srgbClr val="38BDF8"/>
                </a:solidFill>
                <a:latin typeface="Aptos"/>
              </a:defRPr>
            </a:pPr>
            <a:r>
              <a:t>EVENTS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404104"/>
            <a:ext cx="10241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730" b="0" i="0">
                <a:solidFill>
                  <a:srgbClr val="DBEAFE"/>
                </a:solidFill>
                <a:latin typeface="Aptos"/>
              </a:defRPr>
            </a:pPr>
            <a:r>
              <a:t>Workshops &amp; clubs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5047488"/>
            <a:ext cx="1170432" cy="786384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05088" y="5166360"/>
            <a:ext cx="104241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720" b="1" i="0">
                <a:solidFill>
                  <a:srgbClr val="38BDF8"/>
                </a:solidFill>
                <a:latin typeface="Aptos"/>
              </a:defRPr>
            </a:pPr>
            <a:r>
              <a:t>TEAMFINDER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4232" y="5404104"/>
            <a:ext cx="10241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730" b="0" i="0">
                <a:solidFill>
                  <a:srgbClr val="DBEAFE"/>
                </a:solidFill>
                <a:latin typeface="Aptos"/>
              </a:defRPr>
            </a:pPr>
            <a:r>
              <a:t>Find collaborators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8672" y="5047488"/>
            <a:ext cx="1170432" cy="786384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5166360"/>
            <a:ext cx="104241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720" b="1" i="0">
                <a:solidFill>
                  <a:srgbClr val="38BDF8"/>
                </a:solidFill>
                <a:latin typeface="Aptos"/>
              </a:defRPr>
            </a:pPr>
            <a:r>
              <a:t>COMMUNITIES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5404104"/>
            <a:ext cx="10241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730" b="0" i="0">
                <a:solidFill>
                  <a:srgbClr val="DBEAFE"/>
                </a:solidFill>
                <a:latin typeface="Aptos"/>
              </a:defRPr>
            </a:pPr>
            <a:r>
              <a:t>Shared interests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6318504"/>
            <a:ext cx="4023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1" i="0">
                <a:solidFill>
                  <a:srgbClr val="B6D3F2"/>
                </a:solidFill>
                <a:latin typeface="Aptos"/>
              </a:defRPr>
            </a:pPr>
            <a:r>
              <a:t>PROPOSED WEBSITE • NOT A LIVE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46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01  / 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FFFFFF"/>
                </a:solidFill>
                <a:latin typeface="Aptos"/>
              </a:defRPr>
            </a:pPr>
            <a:r>
              <a:t>Campus opportunities are scattered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B6D3F2"/>
                </a:solidFill>
                <a:latin typeface="Aptos"/>
              </a:defRPr>
            </a:pPr>
            <a:r>
              <a:t>Students often navigate multiple channels to discover activities, people, and project opportunities.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DD3FC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27632"/>
            <a:ext cx="3364992" cy="1389888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792224"/>
            <a:ext cx="73152" cy="1060704"/>
          </a:xfrm>
          <a:prstGeom prst="rect">
            <a:avLst/>
          </a:prstGeom>
          <a:solidFill>
            <a:srgbClr val="38BDF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1828800"/>
            <a:ext cx="329184" cy="329184"/>
          </a:xfrm>
          <a:prstGeom prst="ellipse">
            <a:avLst/>
          </a:prstGeom>
          <a:solidFill>
            <a:srgbClr val="0B2D5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28800"/>
            <a:ext cx="3291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38BDF8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810512"/>
            <a:ext cx="24140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Fragmented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258568"/>
            <a:ext cx="28620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10" b="0" i="0">
                <a:solidFill>
                  <a:srgbClr val="B6D3F2"/>
                </a:solidFill>
                <a:latin typeface="Aptos"/>
              </a:defRPr>
            </a:pPr>
            <a:r>
              <a:t>Events and announcements sit across chats, social feeds, notice boards, and separate portals.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27632"/>
            <a:ext cx="3364992" cy="1389888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792224"/>
            <a:ext cx="73152" cy="1060704"/>
          </a:xfrm>
          <a:prstGeom prst="rect">
            <a:avLst/>
          </a:prstGeom>
          <a:solidFill>
            <a:srgbClr val="38BDF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36592" y="1828800"/>
            <a:ext cx="329184" cy="329184"/>
          </a:xfrm>
          <a:prstGeom prst="ellipse">
            <a:avLst/>
          </a:prstGeom>
          <a:solidFill>
            <a:srgbClr val="0B2D5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828800"/>
            <a:ext cx="3291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38BDF8"/>
                </a:solidFill>
                <a:latin typeface="Aptos"/>
              </a:defRPr>
            </a:pPr>
            <a:r>
              <a:t>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1810512"/>
            <a:ext cx="24140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Hard to find collaborators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258568"/>
            <a:ext cx="28620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10" b="0" i="0">
                <a:solidFill>
                  <a:srgbClr val="B6D3F2"/>
                </a:solidFill>
                <a:latin typeface="Aptos"/>
              </a:defRPr>
            </a:pPr>
            <a:r>
              <a:t>Finding teammates with the right skills, interests, and goals can take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4" y="1627632"/>
            <a:ext cx="3364992" cy="1389888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9328" y="1792224"/>
            <a:ext cx="73152" cy="1060704"/>
          </a:xfrm>
          <a:prstGeom prst="rect">
            <a:avLst/>
          </a:prstGeom>
          <a:solidFill>
            <a:srgbClr val="38BDF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22208" y="1828800"/>
            <a:ext cx="329184" cy="329184"/>
          </a:xfrm>
          <a:prstGeom prst="ellipse">
            <a:avLst/>
          </a:prstGeom>
          <a:solidFill>
            <a:srgbClr val="0B2D5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1828800"/>
            <a:ext cx="3291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38BDF8"/>
                </a:solidFill>
                <a:latin typeface="Aptos"/>
              </a:defRPr>
            </a:pPr>
            <a:r>
              <a:t>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810512"/>
            <a:ext cx="24140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Opportunities get missed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2258568"/>
            <a:ext cx="28620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10" b="0" i="0">
                <a:solidFill>
                  <a:srgbClr val="B6D3F2"/>
                </a:solidFill>
                <a:latin typeface="Aptos"/>
              </a:defRPr>
            </a:pPr>
            <a:r>
              <a:t>Relevant workshops, competitions, and student-led initiatives may never reach the right people.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3246120"/>
            <a:ext cx="3364992" cy="1389888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60904" y="3410712"/>
            <a:ext cx="73152" cy="1060704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843784" y="3447288"/>
            <a:ext cx="329184" cy="329184"/>
          </a:xfrm>
          <a:prstGeom prst="ellipse">
            <a:avLst/>
          </a:prstGeom>
          <a:solidFill>
            <a:srgbClr val="0B2D5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43784" y="3447288"/>
            <a:ext cx="3291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2563EB"/>
                </a:solidFill>
                <a:latin typeface="Aptos"/>
              </a:defRPr>
            </a:pPr>
            <a:r>
              <a:t>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82696" y="3429000"/>
            <a:ext cx="24140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Disconnected communities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43784" y="3877056"/>
            <a:ext cx="28620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10" b="0" i="0">
                <a:solidFill>
                  <a:srgbClr val="B6D3F2"/>
                </a:solidFill>
                <a:latin typeface="Aptos"/>
              </a:defRPr>
            </a:pPr>
            <a:r>
              <a:t>Students with shared interests may not know where to find each other or join 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0216" y="3246120"/>
            <a:ext cx="3364992" cy="1389888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3410712"/>
            <a:ext cx="73152" cy="1060704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29400" y="3447288"/>
            <a:ext cx="329184" cy="329184"/>
          </a:xfrm>
          <a:prstGeom prst="ellipse">
            <a:avLst/>
          </a:prstGeom>
          <a:solidFill>
            <a:srgbClr val="0B2D5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447288"/>
            <a:ext cx="3291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2563EB"/>
                </a:solidFill>
                <a:latin typeface="Aptos"/>
              </a:defRPr>
            </a:pPr>
            <a:r>
              <a:t>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3429000"/>
            <a:ext cx="2414015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Low visibility for organizers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877056"/>
            <a:ext cx="28620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10" b="0" i="0">
                <a:solidFill>
                  <a:srgbClr val="B6D3F2"/>
                </a:solidFill>
                <a:latin typeface="Aptos"/>
              </a:defRPr>
            </a:pPr>
            <a:r>
              <a:t>Smaller clubs and new teams can struggle to reach interested participants.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5010912"/>
            <a:ext cx="10936224" cy="566928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138928"/>
            <a:ext cx="12618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THE 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111496"/>
            <a:ext cx="9235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Missed events  •  Slower team formation  •  Lower participation  •  Fragmented campus life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" y="5742432"/>
            <a:ext cx="10936224" cy="530352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843016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1230" b="1" i="0">
                <a:solidFill>
                  <a:srgbClr val="FFFFFF"/>
                </a:solidFill>
                <a:latin typeface="Aptos"/>
              </a:defRPr>
            </a:pPr>
            <a:r>
              <a:t>“Students have opportunities around them, but lack one convenient place to discover, connect, and participate.”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6537960"/>
            <a:ext cx="11045952" cy="10972"/>
          </a:xfrm>
          <a:prstGeom prst="rect">
            <a:avLst/>
          </a:prstGeom>
          <a:solidFill>
            <a:srgbClr val="29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6574536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1" i="0">
                <a:solidFill>
                  <a:srgbClr val="B6D3F2"/>
                </a:solidFill>
                <a:latin typeface="Aptos"/>
              </a:defRPr>
            </a:pPr>
            <a:r>
              <a:t>CAMPUSCONNECT  •  TEAM CYPHER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46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02  / 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FFFFFF"/>
                </a:solidFill>
                <a:latin typeface="Aptos"/>
              </a:defRPr>
            </a:pPr>
            <a:r>
              <a:t>One connected campus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B6D3F2"/>
                </a:solidFill>
                <a:latin typeface="Aptos"/>
              </a:defRPr>
            </a:pPr>
            <a:r>
              <a:t>A single website brings discovery, collaboration, communities, and participation into one student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DD3FC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609344"/>
            <a:ext cx="1289304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Open website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04872" y="1572768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609344"/>
            <a:ext cx="1289304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Sign up / log 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51376" y="1572768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15384" y="1609344"/>
            <a:ext cx="1472184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Complete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8" y="1572768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1609344"/>
            <a:ext cx="1472184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Choose interests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72768"/>
            <a:ext cx="1600200" cy="566928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8" y="1609344"/>
            <a:ext cx="1472184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Student dashboard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75688" y="1856231"/>
            <a:ext cx="329184" cy="0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22191" y="1856231"/>
            <a:ext cx="329185" cy="0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751576" y="1856231"/>
            <a:ext cx="347472" cy="0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99248" y="1856231"/>
            <a:ext cx="347472" cy="0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42248" y="2139696"/>
            <a:ext cx="0" cy="301752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234440" y="2432304"/>
            <a:ext cx="9601200" cy="1645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819656" y="2441448"/>
            <a:ext cx="0" cy="210312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8368" y="2651760"/>
            <a:ext cx="2331720" cy="34747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706624"/>
            <a:ext cx="2221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869" b="1" i="0">
                <a:solidFill>
                  <a:srgbClr val="FFFFFF"/>
                </a:solidFill>
                <a:latin typeface="Aptos"/>
              </a:defRPr>
            </a:pPr>
            <a:r>
              <a:t>A  DISCOVER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090672"/>
            <a:ext cx="2331720" cy="438912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3127248"/>
            <a:ext cx="2203703" cy="36575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Browse events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19656" y="3529584"/>
            <a:ext cx="0" cy="155448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58368" y="3685032"/>
            <a:ext cx="2331720" cy="43891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3721608"/>
            <a:ext cx="2203703" cy="36575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840" b="1" i="0">
                <a:solidFill>
                  <a:srgbClr val="FFFFFF"/>
                </a:solidFill>
                <a:latin typeface="Aptos"/>
              </a:defRPr>
            </a:pPr>
            <a:r>
              <a:t>Filter → view details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819656" y="4123944"/>
            <a:ext cx="0" cy="155448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" y="4279392"/>
            <a:ext cx="2331720" cy="438912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" y="4315968"/>
            <a:ext cx="2203703" cy="36575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869" b="1" i="0">
                <a:solidFill>
                  <a:srgbClr val="FFFFFF"/>
                </a:solidFill>
                <a:latin typeface="Aptos"/>
              </a:defRPr>
            </a:pPr>
            <a:r>
              <a:t>Register or save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617720" y="2441448"/>
            <a:ext cx="0" cy="210312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456432" y="2651760"/>
            <a:ext cx="2331720" cy="34747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11296" y="2706624"/>
            <a:ext cx="2221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869" b="1" i="0">
                <a:solidFill>
                  <a:srgbClr val="FFFFFF"/>
                </a:solidFill>
                <a:latin typeface="Aptos"/>
              </a:defRPr>
            </a:pPr>
            <a:r>
              <a:t>B  TEAMFINDER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56432" y="3090672"/>
            <a:ext cx="2331720" cy="438912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39" y="3127248"/>
            <a:ext cx="2203703" cy="36575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Browse projects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617720" y="3529584"/>
            <a:ext cx="0" cy="155448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456432" y="3685032"/>
            <a:ext cx="2331720" cy="43891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39" y="3721608"/>
            <a:ext cx="2203703" cy="36575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840" b="1" i="0">
                <a:solidFill>
                  <a:srgbClr val="FFFFFF"/>
                </a:solidFill>
                <a:latin typeface="Aptos"/>
              </a:defRPr>
            </a:pPr>
            <a:r>
              <a:t>Review skills &amp; goals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617720" y="4123944"/>
            <a:ext cx="0" cy="155448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456432" y="4279392"/>
            <a:ext cx="2331720" cy="438912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39" y="4315968"/>
            <a:ext cx="2203703" cy="36575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869" b="1" i="0">
                <a:solidFill>
                  <a:srgbClr val="FFFFFF"/>
                </a:solidFill>
                <a:latin typeface="Aptos"/>
              </a:defRPr>
            </a:pPr>
            <a:r>
              <a:t>Request to connect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15783" y="2441448"/>
            <a:ext cx="0" cy="210312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254496" y="2651760"/>
            <a:ext cx="2331720" cy="34747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2706624"/>
            <a:ext cx="2221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869" b="1" i="0">
                <a:solidFill>
                  <a:srgbClr val="FFFFFF"/>
                </a:solidFill>
                <a:latin typeface="Aptos"/>
              </a:defRPr>
            </a:pPr>
            <a:r>
              <a:t>C  COMMUNITIES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54496" y="3090672"/>
            <a:ext cx="2331720" cy="438912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18504" y="3127248"/>
            <a:ext cx="2203703" cy="36575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Explore clubs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415783" y="3529584"/>
            <a:ext cx="0" cy="155448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254496" y="3685032"/>
            <a:ext cx="2331720" cy="43891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18504" y="3721608"/>
            <a:ext cx="2203703" cy="36575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840" b="1" i="0">
                <a:solidFill>
                  <a:srgbClr val="FFFFFF"/>
                </a:solidFill>
                <a:latin typeface="Aptos"/>
              </a:defRPr>
            </a:pPr>
            <a:r>
              <a:t>View community details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415783" y="4123944"/>
            <a:ext cx="0" cy="155448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254496" y="4279392"/>
            <a:ext cx="2331720" cy="438912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18504" y="4315968"/>
            <a:ext cx="2203703" cy="36575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869" b="1" i="0">
                <a:solidFill>
                  <a:srgbClr val="FFFFFF"/>
                </a:solidFill>
                <a:latin typeface="Aptos"/>
              </a:defRPr>
            </a:pPr>
            <a:r>
              <a:t>Join or follow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213848" y="2441448"/>
            <a:ext cx="0" cy="210312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052560" y="2651760"/>
            <a:ext cx="2331720" cy="34747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07424" y="2706624"/>
            <a:ext cx="2221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869" b="1" i="0">
                <a:solidFill>
                  <a:srgbClr val="FFFFFF"/>
                </a:solidFill>
                <a:latin typeface="Aptos"/>
              </a:defRPr>
            </a:pPr>
            <a:r>
              <a:t>D  CONTRIBUTE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52560" y="3090672"/>
            <a:ext cx="2331720" cy="438912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16568" y="3127248"/>
            <a:ext cx="2203703" cy="36575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Draft an event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213848" y="3529584"/>
            <a:ext cx="0" cy="155448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052560" y="3685032"/>
            <a:ext cx="2331720" cy="43891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16568" y="3721608"/>
            <a:ext cx="2203703" cy="36575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840" b="1" i="0">
                <a:solidFill>
                  <a:srgbClr val="FFFFFF"/>
                </a:solidFill>
                <a:latin typeface="Aptos"/>
              </a:defRPr>
            </a:pPr>
            <a:r>
              <a:t>Submit for review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0213848" y="4123944"/>
            <a:ext cx="0" cy="155448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9052560" y="4279392"/>
            <a:ext cx="2331720" cy="438912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16568" y="4315968"/>
            <a:ext cx="2203703" cy="365759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869" b="1" i="0">
                <a:solidFill>
                  <a:srgbClr val="FFFFFF"/>
                </a:solidFill>
                <a:latin typeface="Aptos"/>
              </a:defRPr>
            </a:pPr>
            <a:r>
              <a:t>Publish after approval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819656" y="4718304"/>
            <a:ext cx="0" cy="210312"/>
          </a:xfrm>
          <a:prstGeom prst="line">
            <a:avLst/>
          </a:prstGeom>
          <a:ln w="1397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617720" y="4718304"/>
            <a:ext cx="0" cy="210312"/>
          </a:xfrm>
          <a:prstGeom prst="line">
            <a:avLst/>
          </a:prstGeom>
          <a:ln w="1397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415783" y="4718304"/>
            <a:ext cx="0" cy="210312"/>
          </a:xfrm>
          <a:prstGeom prst="line">
            <a:avLst/>
          </a:prstGeom>
          <a:ln w="1397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213848" y="4718304"/>
            <a:ext cx="0" cy="210312"/>
          </a:xfrm>
          <a:prstGeom prst="line">
            <a:avLst/>
          </a:prstGeom>
          <a:ln w="1397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1810512" y="4919472"/>
            <a:ext cx="8686800" cy="1463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6153912" y="4928616"/>
            <a:ext cx="0" cy="173736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4160520" y="5102352"/>
            <a:ext cx="3977639" cy="438912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61104" y="5193792"/>
            <a:ext cx="3767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Notifications &amp; activity updates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153912" y="5541264"/>
            <a:ext cx="0" cy="146304"/>
          </a:xfrm>
          <a:prstGeom prst="line">
            <a:avLst/>
          </a:prstGeom>
          <a:ln w="2159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4160520" y="5687568"/>
            <a:ext cx="3977639" cy="384048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61104" y="5751576"/>
            <a:ext cx="3767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960" b="1" i="0">
                <a:solidFill>
                  <a:srgbClr val="FFFFFF"/>
                </a:solidFill>
                <a:latin typeface="Aptos"/>
              </a:defRPr>
            </a:pPr>
            <a:r>
              <a:t>Return to personalized dashboard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" y="6245352"/>
            <a:ext cx="10698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19" b="0" i="1">
                <a:solidFill>
                  <a:srgbClr val="B6D3F2"/>
                </a:solidFill>
                <a:latin typeface="Aptos"/>
              </a:defRPr>
            </a:pPr>
            <a:r>
              <a:t>Proposed user journey; final workflow depends on implementation and college requirements.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6928" y="6537960"/>
            <a:ext cx="11045952" cy="10972"/>
          </a:xfrm>
          <a:prstGeom prst="rect">
            <a:avLst/>
          </a:prstGeom>
          <a:solidFill>
            <a:srgbClr val="29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94360" y="6574536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1" i="0">
                <a:solidFill>
                  <a:srgbClr val="B6D3F2"/>
                </a:solidFill>
                <a:latin typeface="Aptos"/>
              </a:defRPr>
            </a:pPr>
            <a:r>
              <a:t>CAMPUSCONNECT  •  TEAM CYPHER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46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03  /  PRODUCT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FFFFFF"/>
                </a:solidFill>
                <a:latin typeface="Aptos"/>
              </a:defRPr>
            </a:pPr>
            <a:r>
              <a:t>Features designed around student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B6D3F2"/>
                </a:solidFill>
                <a:latin typeface="Aptos"/>
              </a:defRPr>
            </a:pPr>
            <a:r>
              <a:t>Proposed MVP features focus on making campus discovery and collaboration simpler, more visible, and more organized.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DD3FC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72768"/>
            <a:ext cx="3364992" cy="139903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1755648"/>
            <a:ext cx="384048" cy="384048"/>
          </a:xfrm>
          <a:prstGeom prst="ellipse">
            <a:avLst/>
          </a:prstGeom>
          <a:solidFill>
            <a:srgbClr val="0B2D5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55648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38BDF8"/>
                </a:solidFill>
                <a:latin typeface="Aptos"/>
              </a:defRPr>
            </a:pPr>
            <a:r>
              <a:t>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737360"/>
            <a:ext cx="2487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20" b="1" i="0">
                <a:solidFill>
                  <a:srgbClr val="FFFFFF"/>
                </a:solidFill>
                <a:latin typeface="Aptos"/>
              </a:defRPr>
            </a:pPr>
            <a:r>
              <a:t>Smart opportunity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29443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10" b="0" i="0">
                <a:solidFill>
                  <a:srgbClr val="DBEAFE"/>
                </a:solidFill>
                <a:latin typeface="Aptos"/>
              </a:defRPr>
            </a:pPr>
            <a:r>
              <a:t>Search and filter events, workshops, competitions, and project opportunities.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39"/>
            <a:ext cx="29443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40" b="1" i="0">
                <a:solidFill>
                  <a:srgbClr val="38BDF8"/>
                </a:solidFill>
                <a:latin typeface="Aptos"/>
              </a:defRPr>
            </a:pPr>
            <a:r>
              <a:t>BENEFIT  ·  Relevant listings are easier to find.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572768"/>
            <a:ext cx="3364992" cy="139903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0288" y="1755648"/>
            <a:ext cx="384048" cy="384048"/>
          </a:xfrm>
          <a:prstGeom prst="ellipse">
            <a:avLst/>
          </a:prstGeom>
          <a:solidFill>
            <a:srgbClr val="0B2D5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755648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38BDF8"/>
                </a:solidFill>
                <a:latin typeface="Aptos"/>
              </a:defRPr>
            </a:pPr>
            <a:r>
              <a:t>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1737360"/>
            <a:ext cx="2487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20" b="1" i="0">
                <a:solidFill>
                  <a:srgbClr val="FFFFFF"/>
                </a:solidFill>
                <a:latin typeface="Aptos"/>
              </a:defRPr>
            </a:pPr>
            <a:r>
              <a:t>TeamFinder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212848"/>
            <a:ext cx="29443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10" b="0" i="0">
                <a:solidFill>
                  <a:srgbClr val="DBEAFE"/>
                </a:solidFill>
                <a:latin typeface="Aptos"/>
              </a:defRPr>
            </a:pPr>
            <a:r>
              <a:t>Explore potential teammates by skills, interests, and project needs.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606039"/>
            <a:ext cx="29443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40" b="1" i="0">
                <a:solidFill>
                  <a:srgbClr val="38BDF8"/>
                </a:solidFill>
                <a:latin typeface="Aptos"/>
              </a:defRPr>
            </a:pPr>
            <a:r>
              <a:t>BENEFIT  ·  Reduces friction in forming teams.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4" y="1572768"/>
            <a:ext cx="3364992" cy="139903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75904" y="1755648"/>
            <a:ext cx="384048" cy="384048"/>
          </a:xfrm>
          <a:prstGeom prst="ellipse">
            <a:avLst/>
          </a:prstGeom>
          <a:solidFill>
            <a:srgbClr val="0B2D5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755648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38BDF8"/>
                </a:solidFill>
                <a:latin typeface="Aptos"/>
              </a:defRPr>
            </a:pPr>
            <a:r>
              <a:t>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737360"/>
            <a:ext cx="2487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20" b="1" i="0">
                <a:solidFill>
                  <a:srgbClr val="FFFFFF"/>
                </a:solidFill>
                <a:latin typeface="Aptos"/>
              </a:defRPr>
            </a:pPr>
            <a:r>
              <a:t>Event &amp; project 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212848"/>
            <a:ext cx="29443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10" b="0" i="0">
                <a:solidFill>
                  <a:srgbClr val="DBEAFE"/>
                </a:solidFill>
                <a:latin typeface="Aptos"/>
              </a:defRPr>
            </a:pPr>
            <a:r>
              <a:t>Create, browse, and manage listings for campus activities.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606039"/>
            <a:ext cx="29443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40" b="1" i="0">
                <a:solidFill>
                  <a:srgbClr val="38BDF8"/>
                </a:solidFill>
                <a:latin typeface="Aptos"/>
              </a:defRPr>
            </a:pPr>
            <a:r>
              <a:t>BENEFIT  ·  Keeps opportunities in one place.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3182112"/>
            <a:ext cx="3364992" cy="139903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2" y="3364992"/>
            <a:ext cx="384048" cy="384048"/>
          </a:xfrm>
          <a:prstGeom prst="ellipse">
            <a:avLst/>
          </a:prstGeom>
          <a:solidFill>
            <a:srgbClr val="0B2D5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364992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38BDF8"/>
                </a:solidFill>
                <a:latin typeface="Aptos"/>
              </a:defRPr>
            </a:pPr>
            <a: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3346704"/>
            <a:ext cx="2487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20" b="1" i="0">
                <a:solidFill>
                  <a:srgbClr val="FFFFFF"/>
                </a:solidFill>
                <a:latin typeface="Aptos"/>
              </a:defRPr>
            </a:pPr>
            <a:r>
              <a:t>Student profiles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22191"/>
            <a:ext cx="29443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10" b="0" i="0">
                <a:solidFill>
                  <a:srgbClr val="DBEAFE"/>
                </a:solidFill>
                <a:latin typeface="Aptos"/>
              </a:defRPr>
            </a:pPr>
            <a:r>
              <a:t>Show skills, interests, projects, and collaboration goals.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215383"/>
            <a:ext cx="29443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40" b="1" i="0">
                <a:solidFill>
                  <a:srgbClr val="38BDF8"/>
                </a:solidFill>
                <a:latin typeface="Aptos"/>
              </a:defRPr>
            </a:pPr>
            <a:r>
              <a:t>BENEFIT  ·  Gives peers context before connecting.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3182112"/>
            <a:ext cx="3364992" cy="139903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0288" y="3364992"/>
            <a:ext cx="384048" cy="384048"/>
          </a:xfrm>
          <a:prstGeom prst="ellipse">
            <a:avLst/>
          </a:prstGeom>
          <a:solidFill>
            <a:srgbClr val="0B2D5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3364992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38BDF8"/>
                </a:solidFill>
                <a:latin typeface="Aptos"/>
              </a:defRPr>
            </a:pPr>
            <a:r>
              <a:t>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3346704"/>
            <a:ext cx="2487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20" b="1" i="0">
                <a:solidFill>
                  <a:srgbClr val="FFFFFF"/>
                </a:solidFill>
                <a:latin typeface="Aptos"/>
              </a:defRPr>
            </a:pPr>
            <a:r>
              <a:t>Campus communities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8576" y="3822191"/>
            <a:ext cx="29443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10" b="0" i="0">
                <a:solidFill>
                  <a:srgbClr val="DBEAFE"/>
                </a:solidFill>
                <a:latin typeface="Aptos"/>
              </a:defRPr>
            </a:pPr>
            <a:r>
              <a:t>Explore clubs and groups, then follow or request to join.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576" y="4215383"/>
            <a:ext cx="29443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40" b="1" i="0">
                <a:solidFill>
                  <a:srgbClr val="38BDF8"/>
                </a:solidFill>
                <a:latin typeface="Aptos"/>
              </a:defRPr>
            </a:pPr>
            <a:r>
              <a:t>BENEFIT  ·  Makes shared-interest connections easier.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93024" y="3182112"/>
            <a:ext cx="3364992" cy="139903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75904" y="3364992"/>
            <a:ext cx="384048" cy="384048"/>
          </a:xfrm>
          <a:prstGeom prst="ellipse">
            <a:avLst/>
          </a:prstGeom>
          <a:solidFill>
            <a:srgbClr val="0B2D5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3364992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38BDF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346704"/>
            <a:ext cx="248716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20" b="1" i="0">
                <a:solidFill>
                  <a:srgbClr val="FFFFFF"/>
                </a:solidFill>
                <a:latin typeface="Aptos"/>
              </a:defRPr>
            </a:pPr>
            <a:r>
              <a:t>Notifications &amp; trust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3822191"/>
            <a:ext cx="29443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10" b="0" i="0">
                <a:solidFill>
                  <a:srgbClr val="DBEAFE"/>
                </a:solidFill>
                <a:latin typeface="Aptos"/>
              </a:defRPr>
            </a:pPr>
            <a:r>
              <a:t>Activity reminders, reporting, guidelines, and organizer checks.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4215383"/>
            <a:ext cx="29443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40" b="1" i="0">
                <a:solidFill>
                  <a:srgbClr val="38BDF8"/>
                </a:solidFill>
                <a:latin typeface="Aptos"/>
              </a:defRPr>
            </a:pPr>
            <a:r>
              <a:t>BENEFIT  ·  Supports timely updates and safer participation.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4864608"/>
            <a:ext cx="10936224" cy="1188720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010912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WHAT MAKES IT DIFFERENT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5321808"/>
            <a:ext cx="3063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40" b="1" i="0">
                <a:solidFill>
                  <a:srgbClr val="FFFFFF"/>
                </a:solidFill>
                <a:latin typeface="Aptos"/>
              </a:defRPr>
            </a:pPr>
            <a:r>
              <a:t>Centralized discovery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" y="5577840"/>
            <a:ext cx="30632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50" b="0" i="0">
                <a:solidFill>
                  <a:srgbClr val="DBEAFE"/>
                </a:solidFill>
                <a:latin typeface="Aptos"/>
              </a:defRPr>
            </a:pPr>
            <a:r>
              <a:t>Multiple campus opportunity types in one organized place.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832" y="5321808"/>
            <a:ext cx="3063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40" b="1" i="0">
                <a:solidFill>
                  <a:srgbClr val="FFFFFF"/>
                </a:solidFill>
                <a:latin typeface="Aptos"/>
              </a:defRPr>
            </a:pPr>
            <a:r>
              <a:t>Interest-based collaboration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2" y="5577840"/>
            <a:ext cx="30632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50" b="0" i="0">
                <a:solidFill>
                  <a:srgbClr val="DBEAFE"/>
                </a:solidFill>
                <a:latin typeface="Aptos"/>
              </a:defRPr>
            </a:pPr>
            <a:r>
              <a:t>Profiles and project needs guide teammate discovery.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0416" y="5321808"/>
            <a:ext cx="3063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40" b="1" i="0">
                <a:solidFill>
                  <a:srgbClr val="FFFFFF"/>
                </a:solidFill>
                <a:latin typeface="Aptos"/>
              </a:defRPr>
            </a:pPr>
            <a:r>
              <a:t>Community-driven growth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0416" y="5577840"/>
            <a:ext cx="30632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50" b="0" i="0">
                <a:solidFill>
                  <a:srgbClr val="DBEAFE"/>
                </a:solidFill>
                <a:latin typeface="Aptos"/>
              </a:defRPr>
            </a:pPr>
            <a:r>
              <a:t>Students and authorized organizers contribute listings, subject to moderation.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6537960"/>
            <a:ext cx="11045952" cy="10972"/>
          </a:xfrm>
          <a:prstGeom prst="rect">
            <a:avLst/>
          </a:prstGeom>
          <a:solidFill>
            <a:srgbClr val="29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6574536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1" i="0">
                <a:solidFill>
                  <a:srgbClr val="B6D3F2"/>
                </a:solidFill>
                <a:latin typeface="Aptos"/>
              </a:defRPr>
            </a:pPr>
            <a:r>
              <a:t>CAMPUSCONNECT  •  TEAM CYPHER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46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04  /  BUILD &amp;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FFFFFF"/>
                </a:solidFill>
                <a:latin typeface="Aptos"/>
              </a:defRPr>
            </a:pPr>
            <a:r>
              <a:t>Technology and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42415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B6D3F2"/>
                </a:solidFill>
                <a:latin typeface="Aptos"/>
              </a:defRPr>
            </a:pPr>
            <a:r>
              <a:t>A practical web-first approach: establish a reliable core, validate it with a pilot, then expand deliberately.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DD3FC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44752"/>
            <a:ext cx="6903720" cy="281635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72768"/>
            <a:ext cx="40233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PROPOSED SYSTEM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1097280" cy="566928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48256"/>
            <a:ext cx="969264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880" b="1" i="0">
                <a:solidFill>
                  <a:srgbClr val="FFFFFF"/>
                </a:solidFill>
                <a:latin typeface="Aptos"/>
              </a:defRPr>
            </a:pPr>
            <a:r>
              <a:t>Student /</a:t>
            </a:r>
          </a:p>
          <a:p>
            <a:pPr algn="ctr">
              <a:spcAft>
                <a:spcPts val="300"/>
              </a:spcAft>
              <a:defRPr sz="880" b="1" i="0">
                <a:solidFill>
                  <a:srgbClr val="FFFFFF"/>
                </a:solidFill>
                <a:latin typeface="Aptos"/>
              </a:defRPr>
            </a:pPr>
            <a:r>
              <a:t>Organizer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201168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2048256"/>
            <a:ext cx="1060704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880" b="1" i="0">
                <a:solidFill>
                  <a:srgbClr val="FFFFFF"/>
                </a:solidFill>
                <a:latin typeface="Aptos"/>
              </a:defRPr>
            </a:pPr>
            <a:r>
              <a:t>Web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011680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8" y="2048256"/>
            <a:ext cx="1106424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819" b="1" i="0">
                <a:solidFill>
                  <a:srgbClr val="FFFFFF"/>
                </a:solidFill>
                <a:latin typeface="Aptos"/>
              </a:defRPr>
            </a:pPr>
            <a:r>
              <a:t>Auth &amp; access</a:t>
            </a:r>
          </a:p>
          <a:p>
            <a:pPr algn="ctr">
              <a:spcAft>
                <a:spcPts val="300"/>
              </a:spcAft>
              <a:defRPr sz="819" b="1" i="0">
                <a:solidFill>
                  <a:srgbClr val="FFFFFF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201168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2936" y="2048256"/>
            <a:ext cx="1060704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880" b="1" i="0">
                <a:solidFill>
                  <a:srgbClr val="FFFFFF"/>
                </a:solidFill>
                <a:latin typeface="Aptos"/>
              </a:defRPr>
            </a:pPr>
            <a:r>
              <a:t>Backend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777240" cy="566928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048256"/>
            <a:ext cx="649224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830" b="1" i="0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19" y="2295144"/>
            <a:ext cx="274321" cy="0"/>
          </a:xfrm>
          <a:prstGeom prst="line">
            <a:avLst/>
          </a:prstGeom>
          <a:ln w="1778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337560" y="2295144"/>
            <a:ext cx="274320" cy="0"/>
          </a:xfrm>
          <a:prstGeom prst="line">
            <a:avLst/>
          </a:prstGeom>
          <a:ln w="1778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46320" y="2295144"/>
            <a:ext cx="292608" cy="0"/>
          </a:xfrm>
          <a:prstGeom prst="line">
            <a:avLst/>
          </a:prstGeom>
          <a:ln w="1778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327648" y="2295144"/>
            <a:ext cx="73152" cy="0"/>
          </a:xfrm>
          <a:prstGeom prst="line">
            <a:avLst/>
          </a:prstGeom>
          <a:ln w="1778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5528" y="2770632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40" b="1" i="0">
                <a:solidFill>
                  <a:srgbClr val="7DD3FC"/>
                </a:solidFill>
                <a:latin typeface="Aptos"/>
              </a:defRPr>
            </a:pPr>
            <a:r>
              <a:t>BACKEND MODULES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" y="3063240"/>
            <a:ext cx="1444752" cy="493776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154680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819" b="1" i="0">
                <a:solidFill>
                  <a:srgbClr val="FFFFFF"/>
                </a:solidFill>
                <a:latin typeface="Aptos"/>
              </a:defRPr>
            </a:pPr>
            <a:r>
              <a:t>Opportunity &amp; events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41448" y="3063240"/>
            <a:ext cx="1444752" cy="493776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87168" y="3154680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819" b="1" i="0">
                <a:solidFill>
                  <a:srgbClr val="FFFFFF"/>
                </a:solidFill>
                <a:latin typeface="Aptos"/>
              </a:defRPr>
            </a:pPr>
            <a:r>
              <a:t>Profiles &amp; teams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87368" y="3063240"/>
            <a:ext cx="1444752" cy="493776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33087" y="3154680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819" b="1" i="0">
                <a:solidFill>
                  <a:srgbClr val="FFFFFF"/>
                </a:solidFill>
                <a:latin typeface="Aptos"/>
              </a:defRPr>
            </a:pPr>
            <a:r>
              <a:t>Search &amp; filters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33288" y="3063240"/>
            <a:ext cx="1444752" cy="493776"/>
          </a:xfrm>
          <a:prstGeom prst="roundRect">
            <a:avLst>
              <a:gd name="adj" fmla="val 12000"/>
            </a:avLst>
          </a:prstGeom>
          <a:solidFill>
            <a:srgbClr val="13437B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79007" y="3154680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819" b="1" i="0">
                <a:solidFill>
                  <a:srgbClr val="FFFFFF"/>
                </a:solidFill>
                <a:latin typeface="Aptos"/>
              </a:defRPr>
            </a:pPr>
            <a:r>
              <a:t>Notifications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15000" y="2578608"/>
            <a:ext cx="0" cy="274320"/>
          </a:xfrm>
          <a:prstGeom prst="line">
            <a:avLst/>
          </a:prstGeom>
          <a:ln w="1524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95528" y="3703320"/>
            <a:ext cx="2880360" cy="365760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3776472"/>
            <a:ext cx="2679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869" b="1" i="0">
                <a:solidFill>
                  <a:srgbClr val="FFFFFF"/>
                </a:solidFill>
                <a:latin typeface="Aptos"/>
              </a:defRPr>
            </a:pPr>
            <a:r>
              <a:t>Moderation &amp; reporting controls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67912" y="3703320"/>
            <a:ext cx="3108960" cy="365760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377647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819" b="1" i="0">
                <a:solidFill>
                  <a:srgbClr val="7DD3FC"/>
                </a:solidFill>
                <a:latin typeface="Aptos"/>
              </a:defRPr>
            </a:pPr>
            <a:r>
              <a:t>FUTURE: interest-based recommendations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99248" y="1444752"/>
            <a:ext cx="3858768" cy="2816352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6992" y="1581912"/>
            <a:ext cx="3383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SUGGESTED 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1938528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40" b="1" i="0">
                <a:solidFill>
                  <a:srgbClr val="FFFF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1938528"/>
            <a:ext cx="2121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60" b="0" i="0">
                <a:solidFill>
                  <a:srgbClr val="DBEAFE"/>
                </a:solidFill>
                <a:latin typeface="Aptos"/>
              </a:defRPr>
            </a:pPr>
            <a:r>
              <a:t>React • HTML • CSS • JavaScript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2450592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40" b="1" i="0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450592"/>
            <a:ext cx="2121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60" b="0" i="0">
                <a:solidFill>
                  <a:srgbClr val="DBEAFE"/>
                </a:solidFill>
                <a:latin typeface="Aptos"/>
              </a:defRPr>
            </a:pPr>
            <a:r>
              <a:t>Node.js + Express (or equivalent)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2962656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40" b="1" i="0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2962656"/>
            <a:ext cx="2121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60" b="0" i="0">
                <a:solidFill>
                  <a:srgbClr val="DBEAFE"/>
                </a:solidFill>
                <a:latin typeface="Aptos"/>
              </a:defRPr>
            </a:pPr>
            <a:r>
              <a:t>PostgreSQL or suitable relational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3474720"/>
            <a:ext cx="12618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40" b="1" i="0">
                <a:solidFill>
                  <a:srgbClr val="FFFFFF"/>
                </a:solidFill>
                <a:latin typeface="Aptos"/>
              </a:defRPr>
            </a:pPr>
            <a:r>
              <a:t>Security &amp; hosting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474720"/>
            <a:ext cx="21214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60" b="0" i="0">
                <a:solidFill>
                  <a:srgbClr val="DBEAFE"/>
                </a:solidFill>
                <a:latin typeface="Aptos"/>
              </a:defRPr>
            </a:pPr>
            <a:r>
              <a:t>Secure auth • role-based access • cloud hosting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3922776"/>
            <a:ext cx="3246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0" i="1">
                <a:solidFill>
                  <a:srgbClr val="B6D3F2"/>
                </a:solidFill>
                <a:latin typeface="Aptos"/>
              </a:defRPr>
            </a:pPr>
            <a:r>
              <a:t>Proposed stack — not yet confirmed as implemented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446227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IMPLEMENTATION ROADMAP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" y="4773168"/>
            <a:ext cx="2578608" cy="1051560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" y="4919472"/>
            <a:ext cx="23042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FFFF"/>
                </a:solidFill>
                <a:latin typeface="Aptos"/>
              </a:defRPr>
            </a:pPr>
            <a:r>
              <a:t>01  FOUNDATION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" y="5230368"/>
            <a:ext cx="23042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19" b="0" i="0">
                <a:solidFill>
                  <a:srgbClr val="DBEAFE"/>
                </a:solidFill>
                <a:latin typeface="Aptos"/>
              </a:defRPr>
            </a:pPr>
            <a:r>
              <a:t>Requirements • UI/UX • auth • database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209544" y="5285232"/>
            <a:ext cx="173736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410712" y="4773168"/>
            <a:ext cx="2578608" cy="1051560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47872" y="4919472"/>
            <a:ext cx="23042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FFFF"/>
                </a:solidFill>
                <a:latin typeface="Aptos"/>
              </a:defRPr>
            </a:pPr>
            <a:r>
              <a:t>02  CORE FEATURES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47872" y="5230368"/>
            <a:ext cx="23042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19" b="0" i="0">
                <a:solidFill>
                  <a:srgbClr val="DBEAFE"/>
                </a:solidFill>
                <a:latin typeface="Aptos"/>
              </a:defRPr>
            </a:pPr>
            <a:r>
              <a:t>Profiles • listings • search • TeamFinder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998464" y="5285232"/>
            <a:ext cx="173736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199632" y="4773168"/>
            <a:ext cx="2578608" cy="1051560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36792" y="4919472"/>
            <a:ext cx="23042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FFFF"/>
                </a:solidFill>
                <a:latin typeface="Aptos"/>
              </a:defRPr>
            </a:pPr>
            <a:r>
              <a:t>03  ENGAGEMENT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36792" y="5230368"/>
            <a:ext cx="23042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19" b="0" i="0">
                <a:solidFill>
                  <a:srgbClr val="DBEAFE"/>
                </a:solidFill>
                <a:latin typeface="Aptos"/>
              </a:defRPr>
            </a:pPr>
            <a:r>
              <a:t>Communities • notifications • moderation • testing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787384" y="5285232"/>
            <a:ext cx="173736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988552" y="4773168"/>
            <a:ext cx="2578608" cy="1051560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25712" y="4919472"/>
            <a:ext cx="23042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FFFF"/>
                </a:solidFill>
                <a:latin typeface="Aptos"/>
              </a:defRPr>
            </a:pPr>
            <a:r>
              <a:t>04  PILOT &amp; IMPROVE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25712" y="5230368"/>
            <a:ext cx="23042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19" b="0" i="0">
                <a:solidFill>
                  <a:srgbClr val="DBEAFE"/>
                </a:solidFill>
                <a:latin typeface="Aptos"/>
              </a:defRPr>
            </a:pPr>
            <a:r>
              <a:t>Small cohort • feedback • fixes • expansion plan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6007608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50" b="0" i="0">
                <a:solidFill>
                  <a:srgbClr val="B6D3F2"/>
                </a:solidFill>
                <a:latin typeface="Aptos"/>
              </a:defRPr>
            </a:pPr>
            <a:r>
              <a:t>Scale path: one-college pilot → more clubs and organizers → institution-level separation → performance tuning and optional recommendations.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6537960"/>
            <a:ext cx="11045952" cy="10972"/>
          </a:xfrm>
          <a:prstGeom prst="rect">
            <a:avLst/>
          </a:prstGeom>
          <a:solidFill>
            <a:srgbClr val="29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6574536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1" i="0">
                <a:solidFill>
                  <a:srgbClr val="B6D3F2"/>
                </a:solidFill>
                <a:latin typeface="Aptos"/>
              </a:defRPr>
            </a:pPr>
            <a:r>
              <a:t>CAMPUSCONNECT  •  TEAM CYPHER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05  /  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6070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t>A more connected campus starts with better discovery.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B6D3F2"/>
                </a:solidFill>
                <a:latin typeface="Aptos"/>
              </a:defRPr>
            </a:pPr>
            <a:r>
              <a:t>Outcomes below are hypotheses to validate through a limited pilot—not claims of existing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27632"/>
            <a:ext cx="3364992" cy="98755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6479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600" b="1" i="0">
                <a:solidFill>
                  <a:srgbClr val="38BDF8"/>
                </a:solidFill>
                <a:latin typeface="Aptos"/>
              </a:defRPr>
            </a:pPr>
            <a:r>
              <a:t>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737360"/>
            <a:ext cx="2423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011680"/>
            <a:ext cx="24505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30" b="0" i="0">
                <a:solidFill>
                  <a:srgbClr val="DBEAFE"/>
                </a:solidFill>
                <a:latin typeface="Aptos"/>
              </a:defRPr>
            </a:pPr>
            <a:r>
              <a:t>Discover events, opportunities, and teammates more easily.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27632"/>
            <a:ext cx="3364992" cy="98755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6479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600" b="1" i="0">
                <a:solidFill>
                  <a:srgbClr val="38BDF8"/>
                </a:solidFill>
                <a:latin typeface="Aptos"/>
              </a:defRPr>
            </a:pPr>
            <a:r>
              <a:t>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1737360"/>
            <a:ext cx="2423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ORGANIZERS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011680"/>
            <a:ext cx="24505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30" b="0" i="0">
                <a:solidFill>
                  <a:srgbClr val="DBEAFE"/>
                </a:solidFill>
                <a:latin typeface="Aptos"/>
              </a:defRPr>
            </a:pPr>
            <a:r>
              <a:t>Publish listings in one place and reach interested participants.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1627632"/>
            <a:ext cx="3364992" cy="987552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1764792"/>
            <a:ext cx="365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600" b="1" i="0">
                <a:solidFill>
                  <a:srgbClr val="38BDF8"/>
                </a:solidFill>
                <a:latin typeface="Aptos"/>
              </a:defRPr>
            </a:pPr>
            <a:r>
              <a:t>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1737360"/>
            <a:ext cx="2423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INSTITUTIONS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3104" y="2011680"/>
            <a:ext cx="24505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30" b="0" i="0">
                <a:solidFill>
                  <a:srgbClr val="DBEAFE"/>
                </a:solidFill>
                <a:latin typeface="Aptos"/>
              </a:defRPr>
            </a:pPr>
            <a:r>
              <a:t>Improve visibility and coordination across campus communities.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2816352"/>
            <a:ext cx="6400800" cy="1874519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71800"/>
            <a:ext cx="3931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PILOT SUCCESS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346704"/>
            <a:ext cx="1417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10" b="1" i="0">
                <a:solidFill>
                  <a:srgbClr val="FFFFFF"/>
                </a:solidFill>
                <a:latin typeface="Aptos"/>
              </a:defRPr>
            </a:pPr>
            <a:r>
              <a:t>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557016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10" b="0" i="0">
                <a:solidFill>
                  <a:srgbClr val="DBEAFE"/>
                </a:solidFill>
                <a:latin typeface="Aptos"/>
              </a:defRPr>
            </a:pPr>
            <a:r>
              <a:t>Active users • listings • views &amp; saves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4488" y="3346704"/>
            <a:ext cx="1417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10" b="1" i="0">
                <a:solidFill>
                  <a:srgbClr val="FFFFFF"/>
                </a:solidFill>
                <a:latin typeface="Aptos"/>
              </a:defRPr>
            </a:pPr>
            <a:r>
              <a:t>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4488" y="3557016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10" b="0" i="0">
                <a:solidFill>
                  <a:srgbClr val="DBEAFE"/>
                </a:solidFill>
                <a:latin typeface="Aptos"/>
              </a:defRPr>
            </a:pPr>
            <a:r>
              <a:t>Registration rate • team requests • connections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922776"/>
            <a:ext cx="1417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10" b="1" i="0">
                <a:solidFill>
                  <a:srgbClr val="FFFFFF"/>
                </a:solidFill>
                <a:latin typeface="Aptos"/>
              </a:defRPr>
            </a:pPr>
            <a:r>
              <a:t>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133088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10" b="0" i="0">
                <a:solidFill>
                  <a:srgbClr val="DBEAFE"/>
                </a:solidFill>
                <a:latin typeface="Aptos"/>
              </a:defRPr>
            </a:pPr>
            <a:r>
              <a:t>Weekly/monthly active users • return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4488" y="3922776"/>
            <a:ext cx="1417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10" b="1" i="0">
                <a:solidFill>
                  <a:srgbClr val="FFFFFF"/>
                </a:solidFill>
                <a:latin typeface="Aptos"/>
              </a:defRPr>
            </a:pPr>
            <a:r>
              <a:t>QUALITY &amp; TRUST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4488" y="4133088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10" b="0" i="0">
                <a:solidFill>
                  <a:srgbClr val="DBEAFE"/>
                </a:solidFill>
                <a:latin typeface="Aptos"/>
              </a:defRPr>
            </a:pPr>
            <a:r>
              <a:t>Satisfaction • conversion • report resolution 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42048" y="2816352"/>
            <a:ext cx="4315968" cy="1874519"/>
          </a:xfrm>
          <a:prstGeom prst="roundRect">
            <a:avLst>
              <a:gd name="adj" fmla="val 12000"/>
            </a:avLst>
          </a:prstGeom>
          <a:solidFill>
            <a:srgbClr val="0E3668"/>
          </a:solidFill>
          <a:ln w="10160">
            <a:solidFill>
              <a:srgbClr val="29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9792" y="2971800"/>
            <a:ext cx="3749039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38BDF8"/>
                </a:solidFill>
                <a:latin typeface="Aptos"/>
              </a:defRPr>
            </a:pPr>
            <a:r>
              <a:t>PILOT EVALUATION</a:t>
            </a:r>
          </a:p>
        </p:txBody>
      </p:sp>
      <p:sp>
        <p:nvSpPr>
          <p:cNvPr id="29" name="Oval 28"/>
          <p:cNvSpPr/>
          <p:nvPr/>
        </p:nvSpPr>
        <p:spPr>
          <a:xfrm>
            <a:off x="7479792" y="3310128"/>
            <a:ext cx="210312" cy="210312"/>
          </a:xfrm>
          <a:prstGeom prst="ellipse">
            <a:avLst/>
          </a:prstGeom>
          <a:solidFill>
            <a:srgbClr val="2563E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3323844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75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0688" y="3319272"/>
            <a:ext cx="3474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30" b="0" i="0">
                <a:solidFill>
                  <a:srgbClr val="DBEAFE"/>
                </a:solidFill>
                <a:latin typeface="Aptos"/>
              </a:defRPr>
            </a:pPr>
            <a:r>
              <a:t>Run a limited student-group pilot</a:t>
            </a:r>
          </a:p>
        </p:txBody>
      </p:sp>
      <p:sp>
        <p:nvSpPr>
          <p:cNvPr id="32" name="Oval 31"/>
          <p:cNvSpPr/>
          <p:nvPr/>
        </p:nvSpPr>
        <p:spPr>
          <a:xfrm>
            <a:off x="7479792" y="3602736"/>
            <a:ext cx="210312" cy="210312"/>
          </a:xfrm>
          <a:prstGeom prst="ellipse">
            <a:avLst/>
          </a:prstGeom>
          <a:solidFill>
            <a:srgbClr val="2563E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9792" y="3616452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75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3611879"/>
            <a:ext cx="3474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30" b="0" i="0">
                <a:solidFill>
                  <a:srgbClr val="DBEAFE"/>
                </a:solidFill>
                <a:latin typeface="Aptos"/>
              </a:defRPr>
            </a:pPr>
            <a:r>
              <a:t>Measure discovery and participation</a:t>
            </a:r>
          </a:p>
        </p:txBody>
      </p:sp>
      <p:sp>
        <p:nvSpPr>
          <p:cNvPr id="35" name="Oval 34"/>
          <p:cNvSpPr/>
          <p:nvPr/>
        </p:nvSpPr>
        <p:spPr>
          <a:xfrm>
            <a:off x="7479792" y="3895344"/>
            <a:ext cx="210312" cy="210312"/>
          </a:xfrm>
          <a:prstGeom prst="ellipse">
            <a:avLst/>
          </a:prstGeom>
          <a:solidFill>
            <a:srgbClr val="2563E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9792" y="3909059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75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90688" y="3904487"/>
            <a:ext cx="3474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30" b="0" i="0">
                <a:solidFill>
                  <a:srgbClr val="DBEAFE"/>
                </a:solidFill>
                <a:latin typeface="Aptos"/>
              </a:defRPr>
            </a:pPr>
            <a:r>
              <a:t>Collect student &amp; organizer feedback</a:t>
            </a:r>
          </a:p>
        </p:txBody>
      </p:sp>
      <p:sp>
        <p:nvSpPr>
          <p:cNvPr id="38" name="Oval 37"/>
          <p:cNvSpPr/>
          <p:nvPr/>
        </p:nvSpPr>
        <p:spPr>
          <a:xfrm>
            <a:off x="7479792" y="4187952"/>
            <a:ext cx="210312" cy="210312"/>
          </a:xfrm>
          <a:prstGeom prst="ellipse">
            <a:avLst/>
          </a:prstGeom>
          <a:solidFill>
            <a:srgbClr val="2563E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79792" y="4201668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75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90688" y="4197096"/>
            <a:ext cx="3474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30" b="0" i="0">
                <a:solidFill>
                  <a:srgbClr val="DBEAFE"/>
                </a:solidFill>
                <a:latin typeface="Aptos"/>
              </a:defRPr>
            </a:pPr>
            <a:r>
              <a:t>Fix usability, privacy, and moderation gaps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4956048"/>
            <a:ext cx="10936224" cy="1170432"/>
          </a:xfrm>
          <a:prstGeom prst="roundRect">
            <a:avLst>
              <a:gd name="adj" fmla="val 12000"/>
            </a:avLst>
          </a:prstGeom>
          <a:solidFill>
            <a:srgbClr val="0B2D5C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120640"/>
            <a:ext cx="69494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“Turn scattered opportunities into connected possibilities.”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5596128"/>
            <a:ext cx="4754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19" b="0" i="0">
                <a:solidFill>
                  <a:srgbClr val="7DD3FC"/>
                </a:solidFill>
                <a:latin typeface="Aptos"/>
              </a:defRPr>
            </a:pPr>
            <a:r>
              <a:t>Discover opportunities. Find your people. Build something together.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230368"/>
            <a:ext cx="2788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38BDF8"/>
                </a:solidFill>
                <a:latin typeface="Aptos"/>
              </a:defRPr>
            </a:pPr>
            <a:r>
              <a:t>THANK YOU  •  TEAM CYPHER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245352"/>
            <a:ext cx="10515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0" i="1">
                <a:solidFill>
                  <a:srgbClr val="B6D3F2"/>
                </a:solidFill>
                <a:latin typeface="Aptos"/>
              </a:defRPr>
            </a:pPr>
            <a:r>
              <a:t>Baseline values and targets will be established during the pilot. Future expansion depends on validated need and responsible governance.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6537960"/>
            <a:ext cx="11045952" cy="10972"/>
          </a:xfrm>
          <a:prstGeom prst="rect">
            <a:avLst/>
          </a:prstGeom>
          <a:solidFill>
            <a:srgbClr val="29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6574536"/>
            <a:ext cx="5943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1" i="0">
                <a:solidFill>
                  <a:srgbClr val="B6D3F2"/>
                </a:solidFill>
                <a:latin typeface="Aptos"/>
              </a:defRPr>
            </a:pPr>
            <a:r>
              <a:t>CAMPUSCONNECT  •  TEAM CYPHER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